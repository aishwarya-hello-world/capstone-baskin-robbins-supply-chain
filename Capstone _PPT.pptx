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JlJ27HmZjXBMzHxudGSa7ajpX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985FEA-81CE-44D5-92D2-B9694AFBEA3D}">
  <a:tblStyle styleId="{81985FEA-81CE-44D5-92D2-B9694AFBEA3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3E626AE-A641-430D-AF40-8EAA452E868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6.xml"/><Relationship Id="rId22" Type="http://schemas.openxmlformats.org/officeDocument/2006/relationships/font" Target="fonts/Roboto-boldItalic.fntdata"/><Relationship Id="rId10" Type="http://schemas.openxmlformats.org/officeDocument/2006/relationships/slide" Target="slides/slide5.xml"/><Relationship Id="rId21"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bdf8dbc5c7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bdf8dbc5c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c0c8e8e194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c0c8e8e19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c0c8e8e194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c0c8e8e19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c0cb89dab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2c0cb89dab2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c0cb89dab2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2c0cb89dab2_1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c0c8e8e194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c0c8e8e19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c0c8e8e194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c0c8e8e19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c0c8e8e194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c0c8e8e19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p:nvPr>
            <p:ph idx="2" type="pic"/>
          </p:nvPr>
        </p:nvSpPr>
        <p:spPr>
          <a:xfrm>
            <a:off x="5183188" y="987425"/>
            <a:ext cx="6172200" cy="4873625"/>
          </a:xfrm>
          <a:prstGeom prst="rect">
            <a:avLst/>
          </a:prstGeom>
          <a:noFill/>
          <a:ln>
            <a:noFill/>
          </a:ln>
        </p:spPr>
      </p:sp>
      <p:sp>
        <p:nvSpPr>
          <p:cNvPr id="64" name="Google Shape;64;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bdf8dbc5c7_0_15"/>
          <p:cNvSpPr txBox="1"/>
          <p:nvPr>
            <p:ph idx="1" type="body"/>
          </p:nvPr>
        </p:nvSpPr>
        <p:spPr>
          <a:xfrm>
            <a:off x="286825" y="421875"/>
            <a:ext cx="4872900" cy="3991500"/>
          </a:xfrm>
          <a:prstGeom prst="rect">
            <a:avLst/>
          </a:prstGeom>
        </p:spPr>
        <p:txBody>
          <a:bodyPr anchorCtr="0" anchor="t" bIns="45700" lIns="91425" spcFirstLastPara="1" rIns="91425" wrap="square" tIns="45700">
            <a:normAutofit fontScale="77500"/>
          </a:bodyPr>
          <a:lstStyle/>
          <a:p>
            <a:pPr indent="0" lvl="0" marL="0" rtl="0" algn="l">
              <a:lnSpc>
                <a:spcPct val="115000"/>
              </a:lnSpc>
              <a:spcBef>
                <a:spcPts val="0"/>
              </a:spcBef>
              <a:spcAft>
                <a:spcPts val="0"/>
              </a:spcAft>
              <a:buClr>
                <a:schemeClr val="dk1"/>
              </a:buClr>
              <a:buSzPts val="853"/>
              <a:buFont typeface="Arial"/>
              <a:buNone/>
            </a:pPr>
            <a:r>
              <a:rPr b="1" lang="en-US" sz="6724">
                <a:solidFill>
                  <a:srgbClr val="002060"/>
                </a:solidFill>
                <a:latin typeface="Georgia"/>
                <a:ea typeface="Georgia"/>
                <a:cs typeface="Georgia"/>
                <a:sym typeface="Georgia"/>
              </a:rPr>
              <a:t>Optimized Routing for Cost Efficient Expansion</a:t>
            </a:r>
            <a:endParaRPr b="1">
              <a:solidFill>
                <a:srgbClr val="002060"/>
              </a:solidFill>
              <a:latin typeface="Georgia"/>
              <a:ea typeface="Georgia"/>
              <a:cs typeface="Georgia"/>
              <a:sym typeface="Georgia"/>
            </a:endParaRPr>
          </a:p>
        </p:txBody>
      </p:sp>
      <p:pic>
        <p:nvPicPr>
          <p:cNvPr id="85" name="Google Shape;85;g2bdf8dbc5c7_0_15"/>
          <p:cNvPicPr preferRelativeResize="0"/>
          <p:nvPr/>
        </p:nvPicPr>
        <p:blipFill>
          <a:blip r:embed="rId3">
            <a:alphaModFix/>
          </a:blip>
          <a:stretch>
            <a:fillRect/>
          </a:stretch>
        </p:blipFill>
        <p:spPr>
          <a:xfrm>
            <a:off x="5334000" y="0"/>
            <a:ext cx="6857999" cy="6857999"/>
          </a:xfrm>
          <a:prstGeom prst="rect">
            <a:avLst/>
          </a:prstGeom>
          <a:noFill/>
          <a:ln>
            <a:noFill/>
          </a:ln>
        </p:spPr>
      </p:pic>
      <p:sp>
        <p:nvSpPr>
          <p:cNvPr id="86" name="Google Shape;86;g2bdf8dbc5c7_0_15"/>
          <p:cNvSpPr txBox="1"/>
          <p:nvPr/>
        </p:nvSpPr>
        <p:spPr>
          <a:xfrm>
            <a:off x="432675" y="4348450"/>
            <a:ext cx="2953200" cy="8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0B5394"/>
                </a:solidFill>
                <a:latin typeface="Georgia"/>
                <a:ea typeface="Georgia"/>
                <a:cs typeface="Georgia"/>
                <a:sym typeface="Georgia"/>
              </a:rPr>
              <a:t>ENGR 693A</a:t>
            </a:r>
            <a:endParaRPr b="1" sz="2800">
              <a:solidFill>
                <a:srgbClr val="0B5394"/>
              </a:solidFill>
              <a:latin typeface="Georgia"/>
              <a:ea typeface="Georgia"/>
              <a:cs typeface="Georgia"/>
              <a:sym typeface="Georgia"/>
            </a:endParaRPr>
          </a:p>
        </p:txBody>
      </p:sp>
      <p:sp>
        <p:nvSpPr>
          <p:cNvPr id="87" name="Google Shape;87;g2bdf8dbc5c7_0_15"/>
          <p:cNvSpPr txBox="1"/>
          <p:nvPr/>
        </p:nvSpPr>
        <p:spPr>
          <a:xfrm>
            <a:off x="551775" y="5246350"/>
            <a:ext cx="2715000" cy="12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2800">
                <a:solidFill>
                  <a:srgbClr val="0B5394"/>
                </a:solidFill>
                <a:latin typeface="Georgia"/>
                <a:ea typeface="Georgia"/>
                <a:cs typeface="Georgia"/>
                <a:sym typeface="Georgia"/>
              </a:rPr>
              <a:t>Aishwarya</a:t>
            </a:r>
            <a:endParaRPr i="1" sz="2800">
              <a:solidFill>
                <a:srgbClr val="0B5394"/>
              </a:solidFill>
              <a:latin typeface="Georgia"/>
              <a:ea typeface="Georgia"/>
              <a:cs typeface="Georgia"/>
              <a:sym typeface="Georgia"/>
            </a:endParaRPr>
          </a:p>
          <a:p>
            <a:pPr indent="0" lvl="0" marL="0" rtl="0" algn="l">
              <a:spcBef>
                <a:spcPts val="0"/>
              </a:spcBef>
              <a:spcAft>
                <a:spcPts val="0"/>
              </a:spcAft>
              <a:buNone/>
            </a:pPr>
            <a:r>
              <a:rPr i="1" lang="en-US" sz="2800">
                <a:solidFill>
                  <a:srgbClr val="0B5394"/>
                </a:solidFill>
                <a:latin typeface="Georgia"/>
                <a:ea typeface="Georgia"/>
                <a:cs typeface="Georgia"/>
                <a:sym typeface="Georgia"/>
              </a:rPr>
              <a:t>Ana</a:t>
            </a:r>
            <a:endParaRPr i="1" sz="2800">
              <a:solidFill>
                <a:srgbClr val="0B5394"/>
              </a:solidFill>
              <a:latin typeface="Georgia"/>
              <a:ea typeface="Georgia"/>
              <a:cs typeface="Georgia"/>
              <a:sym typeface="Georgia"/>
            </a:endParaRPr>
          </a:p>
          <a:p>
            <a:pPr indent="0" lvl="0" marL="0" rtl="0" algn="l">
              <a:spcBef>
                <a:spcPts val="0"/>
              </a:spcBef>
              <a:spcAft>
                <a:spcPts val="0"/>
              </a:spcAft>
              <a:buNone/>
            </a:pPr>
            <a:r>
              <a:rPr i="1" lang="en-US" sz="2800">
                <a:solidFill>
                  <a:srgbClr val="0B5394"/>
                </a:solidFill>
                <a:latin typeface="Georgia"/>
                <a:ea typeface="Georgia"/>
                <a:cs typeface="Georgia"/>
                <a:sym typeface="Georgia"/>
              </a:rPr>
              <a:t>Vishal</a:t>
            </a:r>
            <a:endParaRPr i="1" sz="2800">
              <a:solidFill>
                <a:srgbClr val="0B5394"/>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en-US">
                <a:solidFill>
                  <a:srgbClr val="002060"/>
                </a:solidFill>
              </a:rPr>
              <a:t>Introduction</a:t>
            </a:r>
            <a:endParaRPr/>
          </a:p>
        </p:txBody>
      </p:sp>
      <p:sp>
        <p:nvSpPr>
          <p:cNvPr id="93" name="Google Shape;9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2060"/>
              </a:buClr>
              <a:buSzPts val="1800"/>
              <a:buNone/>
            </a:pPr>
            <a:r>
              <a:rPr b="1" lang="en-US" sz="1800">
                <a:solidFill>
                  <a:srgbClr val="002060"/>
                </a:solidFill>
                <a:latin typeface="Arial"/>
                <a:ea typeface="Arial"/>
                <a:cs typeface="Arial"/>
                <a:sym typeface="Arial"/>
              </a:rPr>
              <a:t>Specific: </a:t>
            </a:r>
            <a:endParaRPr/>
          </a:p>
          <a:p>
            <a:pPr indent="-342900" lvl="0" marL="342900" marR="0" rtl="0" algn="just">
              <a:lnSpc>
                <a:spcPct val="107000"/>
              </a:lnSpc>
              <a:spcBef>
                <a:spcPts val="0"/>
              </a:spcBef>
              <a:spcAft>
                <a:spcPts val="0"/>
              </a:spcAft>
              <a:buClr>
                <a:schemeClr val="dk1"/>
              </a:buClr>
              <a:buSzPts val="1800"/>
              <a:buFont typeface="Calibri"/>
              <a:buAutoNum type="arabicPeriod"/>
            </a:pPr>
            <a:r>
              <a:rPr lang="en-US" sz="1800">
                <a:latin typeface="Calibri"/>
                <a:ea typeface="Calibri"/>
                <a:cs typeface="Calibri"/>
                <a:sym typeface="Calibri"/>
              </a:rPr>
              <a:t>Data from 5 stores on the demand required for Baskin Robbins ice-creams.</a:t>
            </a:r>
            <a:endParaRPr/>
          </a:p>
          <a:p>
            <a:pPr indent="-342900" lvl="0" marL="342900" marR="0" rtl="0" algn="just">
              <a:lnSpc>
                <a:spcPct val="107000"/>
              </a:lnSpc>
              <a:spcBef>
                <a:spcPts val="0"/>
              </a:spcBef>
              <a:spcAft>
                <a:spcPts val="0"/>
              </a:spcAft>
              <a:buClr>
                <a:schemeClr val="dk1"/>
              </a:buClr>
              <a:buSzPts val="1800"/>
              <a:buFont typeface="Calibri"/>
              <a:buAutoNum type="arabicPeriod"/>
            </a:pPr>
            <a:r>
              <a:rPr lang="en-US" sz="1800">
                <a:latin typeface="Calibri"/>
                <a:ea typeface="Calibri"/>
                <a:cs typeface="Calibri"/>
                <a:sym typeface="Calibri"/>
              </a:rPr>
              <a:t>Plan the route from the warehouse to each respective store.</a:t>
            </a:r>
            <a:endParaRPr/>
          </a:p>
          <a:p>
            <a:pPr indent="-342900" lvl="0" marL="342900" marR="0" rtl="0" algn="just">
              <a:lnSpc>
                <a:spcPct val="107000"/>
              </a:lnSpc>
              <a:spcBef>
                <a:spcPts val="0"/>
              </a:spcBef>
              <a:spcAft>
                <a:spcPts val="0"/>
              </a:spcAft>
              <a:buClr>
                <a:schemeClr val="dk1"/>
              </a:buClr>
              <a:buSzPts val="1800"/>
              <a:buFont typeface="Calibri"/>
              <a:buAutoNum type="arabicPeriod"/>
            </a:pPr>
            <a:r>
              <a:rPr lang="en-US" sz="1800"/>
              <a:t>Excel solver is used for taking inputs such as Vehicle Capacity, Time window of least traffic time, Delivery to every storefront </a:t>
            </a:r>
            <a:r>
              <a:rPr lang="en-US" sz="1800"/>
              <a:t>at least</a:t>
            </a:r>
            <a:r>
              <a:rPr lang="en-US" sz="1800"/>
              <a:t> ones during the journey.</a:t>
            </a:r>
            <a:endParaRPr sz="1800"/>
          </a:p>
          <a:p>
            <a:pPr indent="0" lvl="0" marL="0" marR="0" rtl="0" algn="just">
              <a:lnSpc>
                <a:spcPct val="107000"/>
              </a:lnSpc>
              <a:spcBef>
                <a:spcPts val="0"/>
              </a:spcBef>
              <a:spcAft>
                <a:spcPts val="0"/>
              </a:spcAft>
              <a:buNone/>
            </a:pPr>
            <a:r>
              <a:t/>
            </a:r>
            <a:endParaRPr sz="1800"/>
          </a:p>
          <a:p>
            <a:pPr indent="0" lvl="0" marL="0" rtl="0" algn="l">
              <a:lnSpc>
                <a:spcPct val="90000"/>
              </a:lnSpc>
              <a:spcBef>
                <a:spcPts val="1800"/>
              </a:spcBef>
              <a:spcAft>
                <a:spcPts val="0"/>
              </a:spcAft>
              <a:buClr>
                <a:srgbClr val="002060"/>
              </a:buClr>
              <a:buSzPts val="1800"/>
              <a:buNone/>
            </a:pPr>
            <a:r>
              <a:rPr b="1" lang="en-US" sz="1800">
                <a:solidFill>
                  <a:srgbClr val="002060"/>
                </a:solidFill>
                <a:latin typeface="Arial"/>
                <a:ea typeface="Arial"/>
                <a:cs typeface="Arial"/>
                <a:sym typeface="Arial"/>
              </a:rPr>
              <a:t>Uniqueness:</a:t>
            </a:r>
            <a:endParaRPr/>
          </a:p>
          <a:p>
            <a:pPr indent="-342900" lvl="0" marL="342900" marR="0" rtl="0" algn="just">
              <a:lnSpc>
                <a:spcPct val="107000"/>
              </a:lnSpc>
              <a:spcBef>
                <a:spcPts val="0"/>
              </a:spcBef>
              <a:spcAft>
                <a:spcPts val="0"/>
              </a:spcAft>
              <a:buClr>
                <a:schemeClr val="dk1"/>
              </a:buClr>
              <a:buSzPts val="1800"/>
              <a:buFont typeface="Calibri"/>
              <a:buAutoNum type="arabicPeriod"/>
            </a:pPr>
            <a:r>
              <a:rPr lang="en-US" sz="1800"/>
              <a:t>Using the constraints that we have, it will be possible to come up with the shortest route, given the size of the vehicle.</a:t>
            </a:r>
            <a:endParaRPr sz="1800"/>
          </a:p>
          <a:p>
            <a:pPr indent="-342900" lvl="0" marL="342900" marR="0" rtl="0" algn="just">
              <a:lnSpc>
                <a:spcPct val="107000"/>
              </a:lnSpc>
              <a:spcBef>
                <a:spcPts val="0"/>
              </a:spcBef>
              <a:spcAft>
                <a:spcPts val="0"/>
              </a:spcAft>
              <a:buSzPts val="1800"/>
              <a:buAutoNum type="arabicPeriod"/>
            </a:pPr>
            <a:r>
              <a:rPr lang="en-US" sz="1800"/>
              <a:t>It offers cost  and productive savings</a:t>
            </a:r>
            <a:endParaRPr sz="1800"/>
          </a:p>
          <a:p>
            <a:pPr indent="-342900" lvl="0" marL="342900" marR="0" rtl="0" algn="just">
              <a:lnSpc>
                <a:spcPct val="107000"/>
              </a:lnSpc>
              <a:spcBef>
                <a:spcPts val="0"/>
              </a:spcBef>
              <a:spcAft>
                <a:spcPts val="0"/>
              </a:spcAft>
              <a:buSzPts val="1800"/>
              <a:buAutoNum type="arabicPeriod"/>
            </a:pPr>
            <a:r>
              <a:rPr lang="en-US" sz="1800"/>
              <a:t>The same model can be deployed at other areas in the bay, in order to expand.</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p:nvPr/>
        </p:nvSpPr>
        <p:spPr>
          <a:xfrm>
            <a:off x="546950" y="2375900"/>
            <a:ext cx="11256900" cy="2538000"/>
          </a:xfrm>
          <a:prstGeom prst="roundRect">
            <a:avLst>
              <a:gd fmla="val 8287" name="adj"/>
            </a:avLst>
          </a:prstGeom>
          <a:noFill/>
          <a:ln cap="flat" cmpd="sng" w="12700">
            <a:solidFill>
              <a:srgbClr val="31538F"/>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
          <p:cNvSpPr/>
          <p:nvPr/>
        </p:nvSpPr>
        <p:spPr>
          <a:xfrm>
            <a:off x="3988774" y="977194"/>
            <a:ext cx="2069431" cy="924025"/>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Subject Matter Expert</a:t>
            </a:r>
            <a:endParaRPr/>
          </a:p>
        </p:txBody>
      </p:sp>
      <p:sp>
        <p:nvSpPr>
          <p:cNvPr id="100" name="Google Shape;100;p1"/>
          <p:cNvSpPr/>
          <p:nvPr/>
        </p:nvSpPr>
        <p:spPr>
          <a:xfrm>
            <a:off x="7526426" y="3480613"/>
            <a:ext cx="1607100" cy="924000"/>
          </a:xfrm>
          <a:prstGeom prst="roundRect">
            <a:avLst>
              <a:gd fmla="val 16667" name="adj"/>
            </a:avLst>
          </a:prstGeom>
          <a:gradFill>
            <a:gsLst>
              <a:gs pos="0">
                <a:srgbClr val="93C571"/>
              </a:gs>
              <a:gs pos="100000">
                <a:srgbClr val="54793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Using </a:t>
            </a:r>
            <a:r>
              <a:rPr b="0" i="0" lang="en-US" sz="1800" u="none" cap="none" strike="noStrike">
                <a:solidFill>
                  <a:schemeClr val="lt1"/>
                </a:solidFill>
                <a:latin typeface="Calibri"/>
                <a:ea typeface="Calibri"/>
                <a:cs typeface="Calibri"/>
                <a:sym typeface="Calibri"/>
              </a:rPr>
              <a:t>Excel solver for VRP</a:t>
            </a:r>
            <a:endParaRPr/>
          </a:p>
        </p:txBody>
      </p:sp>
      <p:sp>
        <p:nvSpPr>
          <p:cNvPr id="101" name="Google Shape;101;p1"/>
          <p:cNvSpPr/>
          <p:nvPr/>
        </p:nvSpPr>
        <p:spPr>
          <a:xfrm>
            <a:off x="2985500" y="3261400"/>
            <a:ext cx="1781100" cy="1318200"/>
          </a:xfrm>
          <a:prstGeom prst="diamond">
            <a:avLst/>
          </a:prstGeom>
          <a:solidFill>
            <a:schemeClr val="accent4"/>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00" u="none" cap="none" strike="noStrike">
                <a:solidFill>
                  <a:schemeClr val="lt1"/>
                </a:solidFill>
                <a:latin typeface="Calibri"/>
                <a:ea typeface="Calibri"/>
                <a:cs typeface="Calibri"/>
                <a:sym typeface="Calibri"/>
              </a:rPr>
              <a:t>Determining the goodness</a:t>
            </a:r>
            <a:endParaRPr sz="1100"/>
          </a:p>
        </p:txBody>
      </p:sp>
      <p:sp>
        <p:nvSpPr>
          <p:cNvPr id="102" name="Google Shape;102;p1"/>
          <p:cNvSpPr/>
          <p:nvPr/>
        </p:nvSpPr>
        <p:spPr>
          <a:xfrm>
            <a:off x="664101" y="5208852"/>
            <a:ext cx="1340100" cy="623400"/>
          </a:xfrm>
          <a:prstGeom prst="roundRect">
            <a:avLst>
              <a:gd fmla="val 16667" name="adj"/>
            </a:avLst>
          </a:prstGeom>
          <a:gradFill>
            <a:gsLst>
              <a:gs pos="0">
                <a:srgbClr val="F2A36E"/>
              </a:gs>
              <a:gs pos="100000">
                <a:srgbClr val="C45E1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Abstract</a:t>
            </a:r>
            <a:endParaRPr/>
          </a:p>
        </p:txBody>
      </p:sp>
      <p:sp>
        <p:nvSpPr>
          <p:cNvPr id="103" name="Google Shape;103;p1"/>
          <p:cNvSpPr/>
          <p:nvPr/>
        </p:nvSpPr>
        <p:spPr>
          <a:xfrm>
            <a:off x="6763775" y="5241850"/>
            <a:ext cx="1524000" cy="557400"/>
          </a:xfrm>
          <a:prstGeom prst="roundRect">
            <a:avLst>
              <a:gd fmla="val 16667" name="adj"/>
            </a:avLst>
          </a:prstGeom>
          <a:gradFill>
            <a:gsLst>
              <a:gs pos="0">
                <a:srgbClr val="F2A36E"/>
              </a:gs>
              <a:gs pos="100000">
                <a:srgbClr val="C45E1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Methodology</a:t>
            </a:r>
            <a:endParaRPr/>
          </a:p>
        </p:txBody>
      </p:sp>
      <p:sp>
        <p:nvSpPr>
          <p:cNvPr id="104" name="Google Shape;104;p1"/>
          <p:cNvSpPr/>
          <p:nvPr/>
        </p:nvSpPr>
        <p:spPr>
          <a:xfrm>
            <a:off x="6070972" y="912334"/>
            <a:ext cx="1463031" cy="223783"/>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1"/>
          <p:cNvSpPr/>
          <p:nvPr/>
        </p:nvSpPr>
        <p:spPr>
          <a:xfrm rot="5400000">
            <a:off x="10377266" y="2555751"/>
            <a:ext cx="1731300" cy="2214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1"/>
          <p:cNvSpPr/>
          <p:nvPr/>
        </p:nvSpPr>
        <p:spPr>
          <a:xfrm rot="10800000">
            <a:off x="9143090" y="3841525"/>
            <a:ext cx="800700" cy="2022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1"/>
          <p:cNvSpPr/>
          <p:nvPr/>
        </p:nvSpPr>
        <p:spPr>
          <a:xfrm rot="10800000">
            <a:off x="2359725" y="3814600"/>
            <a:ext cx="636600" cy="2118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1"/>
          <p:cNvSpPr/>
          <p:nvPr/>
        </p:nvSpPr>
        <p:spPr>
          <a:xfrm>
            <a:off x="2519324" y="924355"/>
            <a:ext cx="1265867" cy="211762"/>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
          <p:cNvSpPr/>
          <p:nvPr/>
        </p:nvSpPr>
        <p:spPr>
          <a:xfrm>
            <a:off x="470741" y="570272"/>
            <a:ext cx="2069431" cy="924025"/>
          </a:xfrm>
          <a:prstGeom prst="roundRect">
            <a:avLst>
              <a:gd fmla="val 16667" name="adj"/>
            </a:avLst>
          </a:prstGeom>
          <a:gradFill>
            <a:gsLst>
              <a:gs pos="0">
                <a:srgbClr val="93C571"/>
              </a:gs>
              <a:gs pos="100000">
                <a:srgbClr val="54793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SME: Dr. G</a:t>
            </a:r>
            <a:endParaRPr/>
          </a:p>
        </p:txBody>
      </p:sp>
      <p:sp>
        <p:nvSpPr>
          <p:cNvPr id="110" name="Google Shape;110;p1"/>
          <p:cNvSpPr/>
          <p:nvPr/>
        </p:nvSpPr>
        <p:spPr>
          <a:xfrm>
            <a:off x="3785200" y="482599"/>
            <a:ext cx="2503800" cy="1418700"/>
          </a:xfrm>
          <a:prstGeom prst="roundRect">
            <a:avLst>
              <a:gd fmla="val 16667" name="adj"/>
            </a:avLst>
          </a:prstGeom>
          <a:gradFill>
            <a:gsLst>
              <a:gs pos="0">
                <a:srgbClr val="93C571"/>
              </a:gs>
              <a:gs pos="100000">
                <a:srgbClr val="54793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Hypothesis:</a:t>
            </a:r>
            <a:br>
              <a:rPr b="0" i="0" lang="en-US" sz="1800" u="none" cap="none" strike="noStrike">
                <a:solidFill>
                  <a:schemeClr val="lt1"/>
                </a:solidFill>
                <a:latin typeface="Calibri"/>
                <a:ea typeface="Calibri"/>
                <a:cs typeface="Calibri"/>
                <a:sym typeface="Calibri"/>
              </a:rPr>
            </a:br>
            <a:r>
              <a:rPr b="0" i="0" lang="en-US" sz="1200" u="none" cap="none" strike="noStrike">
                <a:solidFill>
                  <a:srgbClr val="F9F9F9"/>
                </a:solidFill>
                <a:latin typeface="Arial"/>
                <a:ea typeface="Arial"/>
                <a:cs typeface="Arial"/>
                <a:sym typeface="Arial"/>
              </a:rPr>
              <a:t>Improved Demand Forecasting</a:t>
            </a:r>
            <a:endParaRPr/>
          </a:p>
          <a:p>
            <a:pPr indent="0" lvl="0" marL="0" marR="0" rtl="0" algn="ctr">
              <a:spcBef>
                <a:spcPts val="0"/>
              </a:spcBef>
              <a:spcAft>
                <a:spcPts val="0"/>
              </a:spcAft>
              <a:buNone/>
            </a:pPr>
            <a:r>
              <a:rPr b="0" i="0" lang="en-US" sz="1200" u="none" cap="none" strike="noStrike">
                <a:solidFill>
                  <a:srgbClr val="F9F9F9"/>
                </a:solidFill>
                <a:latin typeface="Arial"/>
                <a:ea typeface="Arial"/>
                <a:cs typeface="Arial"/>
                <a:sym typeface="Arial"/>
              </a:rPr>
              <a:t>Optimized Routing Decisions</a:t>
            </a:r>
            <a:endParaRPr b="0" i="0" sz="1200" u="none" cap="none" strike="noStrike">
              <a:solidFill>
                <a:srgbClr val="F9F9F9"/>
              </a:solidFill>
              <a:latin typeface="Arial"/>
              <a:ea typeface="Arial"/>
              <a:cs typeface="Arial"/>
              <a:sym typeface="Arial"/>
            </a:endParaRPr>
          </a:p>
          <a:p>
            <a:pPr indent="0" lvl="0" marL="0" marR="0" rtl="0" algn="ctr">
              <a:spcBef>
                <a:spcPts val="0"/>
              </a:spcBef>
              <a:spcAft>
                <a:spcPts val="0"/>
              </a:spcAft>
              <a:buNone/>
            </a:pPr>
            <a:r>
              <a:rPr b="0" i="0" lang="en-US" sz="1200" u="none" cap="none" strike="noStrike">
                <a:solidFill>
                  <a:srgbClr val="F9F9F9"/>
                </a:solidFill>
                <a:latin typeface="Arial"/>
                <a:ea typeface="Arial"/>
                <a:cs typeface="Arial"/>
                <a:sym typeface="Arial"/>
              </a:rPr>
              <a:t>Cost Savings</a:t>
            </a:r>
            <a:endParaRPr/>
          </a:p>
          <a:p>
            <a:pPr indent="0" lvl="0" marL="0" marR="0" rtl="0" algn="ctr">
              <a:spcBef>
                <a:spcPts val="0"/>
              </a:spcBef>
              <a:spcAft>
                <a:spcPts val="0"/>
              </a:spcAft>
              <a:buNone/>
            </a:pPr>
            <a:r>
              <a:rPr b="0" i="0" lang="en-US" sz="1200" u="none" cap="none" strike="noStrike">
                <a:solidFill>
                  <a:srgbClr val="F9F9F9"/>
                </a:solidFill>
                <a:latin typeface="Arial"/>
                <a:ea typeface="Arial"/>
                <a:cs typeface="Arial"/>
                <a:sym typeface="Arial"/>
              </a:rPr>
              <a:t>Scalability and Expansion</a:t>
            </a:r>
            <a:endParaRPr/>
          </a:p>
        </p:txBody>
      </p:sp>
      <p:sp>
        <p:nvSpPr>
          <p:cNvPr id="111" name="Google Shape;111;p1"/>
          <p:cNvSpPr/>
          <p:nvPr/>
        </p:nvSpPr>
        <p:spPr>
          <a:xfrm>
            <a:off x="7534000" y="482600"/>
            <a:ext cx="4129200" cy="1318200"/>
          </a:xfrm>
          <a:prstGeom prst="roundRect">
            <a:avLst>
              <a:gd fmla="val 16667" name="adj"/>
            </a:avLst>
          </a:prstGeom>
          <a:gradFill>
            <a:gsLst>
              <a:gs pos="0">
                <a:srgbClr val="93C571"/>
              </a:gs>
              <a:gs pos="100000">
                <a:srgbClr val="54793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Anticipate demand spikes, plan inventory replenishment accordingly, and optimize delivery routes </a:t>
            </a:r>
            <a:endParaRPr/>
          </a:p>
        </p:txBody>
      </p:sp>
      <p:sp>
        <p:nvSpPr>
          <p:cNvPr id="112" name="Google Shape;112;p1"/>
          <p:cNvSpPr/>
          <p:nvPr/>
        </p:nvSpPr>
        <p:spPr>
          <a:xfrm>
            <a:off x="9953349" y="3520900"/>
            <a:ext cx="1682700" cy="924000"/>
          </a:xfrm>
          <a:prstGeom prst="roundRect">
            <a:avLst>
              <a:gd fmla="val 16667" name="adj"/>
            </a:avLst>
          </a:prstGeom>
          <a:gradFill>
            <a:gsLst>
              <a:gs pos="0">
                <a:srgbClr val="93C571"/>
              </a:gs>
              <a:gs pos="100000">
                <a:srgbClr val="54793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lt1"/>
                </a:solidFill>
                <a:latin typeface="Calibri"/>
                <a:ea typeface="Calibri"/>
                <a:cs typeface="Calibri"/>
                <a:sym typeface="Calibri"/>
              </a:rPr>
              <a:t>Data Collection from a selected areas of the Bay</a:t>
            </a:r>
            <a:endParaRPr sz="1200"/>
          </a:p>
        </p:txBody>
      </p:sp>
      <p:grpSp>
        <p:nvGrpSpPr>
          <p:cNvPr id="113" name="Google Shape;113;p1"/>
          <p:cNvGrpSpPr/>
          <p:nvPr/>
        </p:nvGrpSpPr>
        <p:grpSpPr>
          <a:xfrm>
            <a:off x="3785229" y="2767135"/>
            <a:ext cx="4576450" cy="713536"/>
            <a:chOff x="1718102" y="2203580"/>
            <a:chExt cx="4455701" cy="753311"/>
          </a:xfrm>
        </p:grpSpPr>
        <p:sp>
          <p:nvSpPr>
            <p:cNvPr id="114" name="Google Shape;114;p1"/>
            <p:cNvSpPr/>
            <p:nvPr/>
          </p:nvSpPr>
          <p:spPr>
            <a:xfrm flipH="1" rot="10800000">
              <a:off x="1733550" y="2206339"/>
              <a:ext cx="4440253" cy="750552"/>
            </a:xfrm>
            <a:prstGeom prst="bentUpArrow">
              <a:avLst>
                <a:gd fmla="val 9692" name="adj1"/>
                <a:gd fmla="val 14001" name="adj2"/>
                <a:gd fmla="val 23583" name="adj3"/>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5" name="Google Shape;115;p1"/>
            <p:cNvSpPr/>
            <p:nvPr/>
          </p:nvSpPr>
          <p:spPr>
            <a:xfrm>
              <a:off x="1718102" y="2203580"/>
              <a:ext cx="97800" cy="588600"/>
            </a:xfrm>
            <a:prstGeom prst="rect">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16" name="Google Shape;116;p1"/>
          <p:cNvSpPr txBox="1"/>
          <p:nvPr/>
        </p:nvSpPr>
        <p:spPr>
          <a:xfrm>
            <a:off x="5654101" y="2889227"/>
            <a:ext cx="7752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No</a:t>
            </a:r>
            <a:endParaRPr/>
          </a:p>
        </p:txBody>
      </p:sp>
      <p:sp>
        <p:nvSpPr>
          <p:cNvPr id="117" name="Google Shape;117;p1"/>
          <p:cNvSpPr txBox="1"/>
          <p:nvPr/>
        </p:nvSpPr>
        <p:spPr>
          <a:xfrm>
            <a:off x="2437540" y="4125908"/>
            <a:ext cx="7752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Yes</a:t>
            </a:r>
            <a:endParaRPr/>
          </a:p>
        </p:txBody>
      </p:sp>
      <p:sp>
        <p:nvSpPr>
          <p:cNvPr id="118" name="Google Shape;118;p1"/>
          <p:cNvSpPr/>
          <p:nvPr/>
        </p:nvSpPr>
        <p:spPr>
          <a:xfrm>
            <a:off x="5254638" y="3516012"/>
            <a:ext cx="1682700" cy="863700"/>
          </a:xfrm>
          <a:prstGeom prst="roundRect">
            <a:avLst>
              <a:gd fmla="val 16667" name="adj"/>
            </a:avLst>
          </a:prstGeom>
          <a:gradFill>
            <a:gsLst>
              <a:gs pos="0">
                <a:srgbClr val="93C571"/>
              </a:gs>
              <a:gs pos="100000">
                <a:srgbClr val="54793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Navigational</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lang="en-US" sz="1800">
                <a:solidFill>
                  <a:schemeClr val="lt1"/>
                </a:solidFill>
                <a:latin typeface="Calibri"/>
                <a:ea typeface="Calibri"/>
                <a:cs typeface="Calibri"/>
                <a:sym typeface="Calibri"/>
              </a:rPr>
              <a:t>Mapping</a:t>
            </a:r>
            <a:endParaRPr/>
          </a:p>
        </p:txBody>
      </p:sp>
      <p:sp>
        <p:nvSpPr>
          <p:cNvPr id="119" name="Google Shape;119;p1"/>
          <p:cNvSpPr/>
          <p:nvPr/>
        </p:nvSpPr>
        <p:spPr>
          <a:xfrm rot="10800000">
            <a:off x="6946900" y="3787988"/>
            <a:ext cx="587100" cy="2118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1"/>
          <p:cNvSpPr/>
          <p:nvPr/>
        </p:nvSpPr>
        <p:spPr>
          <a:xfrm>
            <a:off x="2225638" y="2767175"/>
            <a:ext cx="1463100" cy="479100"/>
          </a:xfrm>
          <a:prstGeom prst="wedgeRoundRectCallout">
            <a:avLst>
              <a:gd fmla="val 41213" name="adj1"/>
              <a:gd fmla="val 95366" name="adj2"/>
              <a:gd fmla="val 0" name="adj3"/>
            </a:avLst>
          </a:prstGeom>
          <a:solidFill>
            <a:srgbClr val="92D05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Received Approval 2/29!</a:t>
            </a:r>
            <a:endParaRPr b="1">
              <a:latin typeface="Calibri"/>
              <a:ea typeface="Calibri"/>
              <a:cs typeface="Calibri"/>
              <a:sym typeface="Calibri"/>
            </a:endParaRPr>
          </a:p>
        </p:txBody>
      </p:sp>
      <p:sp>
        <p:nvSpPr>
          <p:cNvPr id="121" name="Google Shape;121;p1"/>
          <p:cNvSpPr/>
          <p:nvPr/>
        </p:nvSpPr>
        <p:spPr>
          <a:xfrm>
            <a:off x="664101" y="3536787"/>
            <a:ext cx="1682700" cy="863700"/>
          </a:xfrm>
          <a:prstGeom prst="roundRect">
            <a:avLst>
              <a:gd fmla="val 16667" name="adj"/>
            </a:avLst>
          </a:prstGeom>
          <a:gradFill>
            <a:gsLst>
              <a:gs pos="0">
                <a:srgbClr val="F2A36E"/>
              </a:gs>
              <a:gs pos="100000">
                <a:srgbClr val="C45E1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Representation in Tableau</a:t>
            </a:r>
            <a:endParaRPr/>
          </a:p>
        </p:txBody>
      </p:sp>
      <p:sp>
        <p:nvSpPr>
          <p:cNvPr id="122" name="Google Shape;122;p1"/>
          <p:cNvSpPr/>
          <p:nvPr/>
        </p:nvSpPr>
        <p:spPr>
          <a:xfrm>
            <a:off x="2519325" y="5208850"/>
            <a:ext cx="1607100" cy="623400"/>
          </a:xfrm>
          <a:prstGeom prst="roundRect">
            <a:avLst>
              <a:gd fmla="val 16667" name="adj"/>
            </a:avLst>
          </a:prstGeom>
          <a:gradFill>
            <a:gsLst>
              <a:gs pos="0">
                <a:srgbClr val="F2A36E"/>
              </a:gs>
              <a:gs pos="100000">
                <a:srgbClr val="C45E1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Introduction</a:t>
            </a:r>
            <a:endParaRPr/>
          </a:p>
        </p:txBody>
      </p:sp>
      <p:sp>
        <p:nvSpPr>
          <p:cNvPr id="123" name="Google Shape;123;p1"/>
          <p:cNvSpPr/>
          <p:nvPr/>
        </p:nvSpPr>
        <p:spPr>
          <a:xfrm>
            <a:off x="4641562" y="5208850"/>
            <a:ext cx="1607100" cy="623400"/>
          </a:xfrm>
          <a:prstGeom prst="roundRect">
            <a:avLst>
              <a:gd fmla="val 16667" name="adj"/>
            </a:avLst>
          </a:prstGeom>
          <a:gradFill>
            <a:gsLst>
              <a:gs pos="0">
                <a:srgbClr val="F2A36E"/>
              </a:gs>
              <a:gs pos="100000">
                <a:srgbClr val="C45E1A"/>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Literature Review</a:t>
            </a:r>
            <a:endParaRPr/>
          </a:p>
        </p:txBody>
      </p:sp>
      <p:sp>
        <p:nvSpPr>
          <p:cNvPr id="124" name="Google Shape;124;p1"/>
          <p:cNvSpPr/>
          <p:nvPr/>
        </p:nvSpPr>
        <p:spPr>
          <a:xfrm>
            <a:off x="8802900" y="5241850"/>
            <a:ext cx="1524000" cy="557400"/>
          </a:xfrm>
          <a:prstGeom prst="roundRect">
            <a:avLst>
              <a:gd fmla="val 16667" name="adj"/>
            </a:avLst>
          </a:prstGeom>
          <a:gradFill>
            <a:gsLst>
              <a:gs pos="0">
                <a:srgbClr val="213F76"/>
              </a:gs>
              <a:gs pos="50000">
                <a:srgbClr val="2F5CAB"/>
              </a:gs>
              <a:gs pos="100000">
                <a:srgbClr val="3A6FCD"/>
              </a:gs>
            </a:gsLst>
            <a:path path="circle">
              <a:fillToRect l="100%" t="100%"/>
            </a:path>
            <a:tileRect b="-100%" r="-10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Results</a:t>
            </a:r>
            <a:endParaRPr/>
          </a:p>
        </p:txBody>
      </p:sp>
      <p:sp>
        <p:nvSpPr>
          <p:cNvPr id="125" name="Google Shape;125;p1"/>
          <p:cNvSpPr/>
          <p:nvPr/>
        </p:nvSpPr>
        <p:spPr>
          <a:xfrm>
            <a:off x="6119275" y="6138625"/>
            <a:ext cx="1524000" cy="557400"/>
          </a:xfrm>
          <a:prstGeom prst="roundRect">
            <a:avLst>
              <a:gd fmla="val 16667" name="adj"/>
            </a:avLst>
          </a:prstGeom>
          <a:gradFill>
            <a:gsLst>
              <a:gs pos="0">
                <a:srgbClr val="213F76"/>
              </a:gs>
              <a:gs pos="50000">
                <a:srgbClr val="2F5CAB"/>
              </a:gs>
              <a:gs pos="100000">
                <a:srgbClr val="3A6FCD"/>
              </a:gs>
            </a:gsLst>
            <a:path path="circle">
              <a:fillToRect l="100%" t="100%"/>
            </a:path>
            <a:tileRect b="-100%" r="-10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Conclusion</a:t>
            </a:r>
            <a:endParaRPr/>
          </a:p>
        </p:txBody>
      </p:sp>
      <p:sp>
        <p:nvSpPr>
          <p:cNvPr id="126" name="Google Shape;126;p1"/>
          <p:cNvSpPr/>
          <p:nvPr/>
        </p:nvSpPr>
        <p:spPr>
          <a:xfrm>
            <a:off x="2560875" y="6138625"/>
            <a:ext cx="1524000" cy="557400"/>
          </a:xfrm>
          <a:prstGeom prst="roundRect">
            <a:avLst>
              <a:gd fmla="val 16667" name="adj"/>
            </a:avLst>
          </a:prstGeom>
          <a:gradFill>
            <a:gsLst>
              <a:gs pos="0">
                <a:srgbClr val="213F76"/>
              </a:gs>
              <a:gs pos="50000">
                <a:srgbClr val="2F5CAB"/>
              </a:gs>
              <a:gs pos="100000">
                <a:srgbClr val="3A6FCD"/>
              </a:gs>
            </a:gsLst>
            <a:path path="circle">
              <a:fillToRect l="100%" t="100%"/>
            </a:path>
            <a:tileRect b="-100%" r="-10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Document formatting</a:t>
            </a:r>
            <a:endParaRPr/>
          </a:p>
        </p:txBody>
      </p:sp>
      <p:sp>
        <p:nvSpPr>
          <p:cNvPr id="127" name="Google Shape;127;p1"/>
          <p:cNvSpPr/>
          <p:nvPr/>
        </p:nvSpPr>
        <p:spPr>
          <a:xfrm>
            <a:off x="2004199" y="5414650"/>
            <a:ext cx="515100" cy="2118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8" name="Google Shape;128;p1"/>
          <p:cNvSpPr/>
          <p:nvPr/>
        </p:nvSpPr>
        <p:spPr>
          <a:xfrm>
            <a:off x="4126437" y="5414650"/>
            <a:ext cx="515100" cy="2118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1"/>
          <p:cNvSpPr/>
          <p:nvPr/>
        </p:nvSpPr>
        <p:spPr>
          <a:xfrm>
            <a:off x="6248687" y="5414650"/>
            <a:ext cx="515100" cy="2118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0" name="Google Shape;130;p1"/>
          <p:cNvSpPr/>
          <p:nvPr/>
        </p:nvSpPr>
        <p:spPr>
          <a:xfrm>
            <a:off x="8287787" y="5414650"/>
            <a:ext cx="515100" cy="2118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1"/>
          <p:cNvSpPr txBox="1"/>
          <p:nvPr/>
        </p:nvSpPr>
        <p:spPr>
          <a:xfrm>
            <a:off x="11087525" y="6449700"/>
            <a:ext cx="1026300" cy="292500"/>
          </a:xfrm>
          <a:prstGeom prst="rect">
            <a:avLst/>
          </a:prstGeom>
          <a:gradFill>
            <a:gsLst>
              <a:gs pos="0">
                <a:srgbClr val="3177EE"/>
              </a:gs>
              <a:gs pos="100000">
                <a:srgbClr val="113D8A"/>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lang="en-US" sz="1300">
                <a:solidFill>
                  <a:schemeClr val="lt1"/>
                </a:solidFill>
                <a:latin typeface="Calibri"/>
                <a:ea typeface="Calibri"/>
                <a:cs typeface="Calibri"/>
                <a:sym typeface="Calibri"/>
              </a:rPr>
              <a:t>Yet to start</a:t>
            </a:r>
            <a:endParaRPr/>
          </a:p>
        </p:txBody>
      </p:sp>
      <p:sp>
        <p:nvSpPr>
          <p:cNvPr id="132" name="Google Shape;132;p1"/>
          <p:cNvSpPr txBox="1"/>
          <p:nvPr/>
        </p:nvSpPr>
        <p:spPr>
          <a:xfrm>
            <a:off x="11087525" y="6064425"/>
            <a:ext cx="1026300" cy="292500"/>
          </a:xfrm>
          <a:prstGeom prst="rect">
            <a:avLst/>
          </a:prstGeom>
          <a:gradFill>
            <a:gsLst>
              <a:gs pos="0">
                <a:srgbClr val="F2A36E"/>
              </a:gs>
              <a:gs pos="100000">
                <a:srgbClr val="C45E1A"/>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lang="en-US" sz="1300">
                <a:solidFill>
                  <a:schemeClr val="lt1"/>
                </a:solidFill>
                <a:latin typeface="Calibri"/>
                <a:ea typeface="Calibri"/>
                <a:cs typeface="Calibri"/>
                <a:sym typeface="Calibri"/>
              </a:rPr>
              <a:t>WIP</a:t>
            </a:r>
            <a:endParaRPr/>
          </a:p>
        </p:txBody>
      </p:sp>
      <p:sp>
        <p:nvSpPr>
          <p:cNvPr id="133" name="Google Shape;133;p1"/>
          <p:cNvSpPr txBox="1"/>
          <p:nvPr/>
        </p:nvSpPr>
        <p:spPr>
          <a:xfrm>
            <a:off x="11087525" y="5710525"/>
            <a:ext cx="1026300" cy="292500"/>
          </a:xfrm>
          <a:prstGeom prst="rect">
            <a:avLst/>
          </a:prstGeom>
          <a:gradFill>
            <a:gsLst>
              <a:gs pos="0">
                <a:srgbClr val="93C571"/>
              </a:gs>
              <a:gs pos="100000">
                <a:srgbClr val="54793A"/>
              </a:gs>
            </a:gsLst>
            <a:path path="circle">
              <a:fillToRect b="50%" l="50%" r="50%" t="50%"/>
            </a:path>
            <a:tileRect/>
          </a:gra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None/>
            </a:pPr>
            <a:r>
              <a:rPr lang="en-US" sz="1300">
                <a:solidFill>
                  <a:schemeClr val="lt1"/>
                </a:solidFill>
                <a:latin typeface="Calibri"/>
                <a:ea typeface="Calibri"/>
                <a:cs typeface="Calibri"/>
                <a:sym typeface="Calibri"/>
              </a:rPr>
              <a:t>Completed</a:t>
            </a:r>
            <a:endParaRPr sz="1300">
              <a:solidFill>
                <a:schemeClr val="lt1"/>
              </a:solidFill>
              <a:latin typeface="Calibri"/>
              <a:ea typeface="Calibri"/>
              <a:cs typeface="Calibri"/>
              <a:sym typeface="Calibri"/>
            </a:endParaRPr>
          </a:p>
        </p:txBody>
      </p:sp>
      <p:sp>
        <p:nvSpPr>
          <p:cNvPr id="134" name="Google Shape;134;p1"/>
          <p:cNvSpPr/>
          <p:nvPr/>
        </p:nvSpPr>
        <p:spPr>
          <a:xfrm rot="10800000">
            <a:off x="4698151" y="3843800"/>
            <a:ext cx="558000" cy="2118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135" name="Google Shape;135;p1"/>
          <p:cNvCxnSpPr/>
          <p:nvPr/>
        </p:nvCxnSpPr>
        <p:spPr>
          <a:xfrm flipH="1">
            <a:off x="80825" y="160525"/>
            <a:ext cx="4800" cy="657150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1"/>
          <p:cNvCxnSpPr/>
          <p:nvPr/>
        </p:nvCxnSpPr>
        <p:spPr>
          <a:xfrm flipH="1">
            <a:off x="403700" y="149825"/>
            <a:ext cx="35100" cy="6598500"/>
          </a:xfrm>
          <a:prstGeom prst="straightConnector1">
            <a:avLst/>
          </a:prstGeom>
          <a:noFill/>
          <a:ln cap="flat" cmpd="sng" w="9525">
            <a:solidFill>
              <a:schemeClr val="dk2"/>
            </a:solidFill>
            <a:prstDash val="solid"/>
            <a:round/>
            <a:headEnd len="med" w="med" type="none"/>
            <a:tailEnd len="med" w="med" type="none"/>
          </a:ln>
        </p:spPr>
      </p:cxnSp>
      <p:cxnSp>
        <p:nvCxnSpPr>
          <p:cNvPr id="137" name="Google Shape;137;p1"/>
          <p:cNvCxnSpPr/>
          <p:nvPr/>
        </p:nvCxnSpPr>
        <p:spPr>
          <a:xfrm>
            <a:off x="85625" y="2268875"/>
            <a:ext cx="11901000" cy="21300"/>
          </a:xfrm>
          <a:prstGeom prst="straightConnector1">
            <a:avLst/>
          </a:prstGeom>
          <a:noFill/>
          <a:ln cap="flat" cmpd="sng" w="9525">
            <a:solidFill>
              <a:schemeClr val="dk2"/>
            </a:solidFill>
            <a:prstDash val="solid"/>
            <a:round/>
            <a:headEnd len="med" w="med" type="none"/>
            <a:tailEnd len="med" w="med" type="none"/>
          </a:ln>
        </p:spPr>
      </p:cxnSp>
      <p:sp>
        <p:nvSpPr>
          <p:cNvPr id="138" name="Google Shape;138;p1"/>
          <p:cNvSpPr/>
          <p:nvPr/>
        </p:nvSpPr>
        <p:spPr>
          <a:xfrm rot="10800000">
            <a:off x="4039675" y="6311425"/>
            <a:ext cx="2082000" cy="211800"/>
          </a:xfrm>
          <a:prstGeom prst="rightArrow">
            <a:avLst>
              <a:gd fmla="val 50000" name="adj1"/>
              <a:gd fmla="val 50000" name="adj2"/>
            </a:avLst>
          </a:prstGeom>
          <a:solidFill>
            <a:srgbClr val="AEABAB"/>
          </a:solidFill>
          <a:ln cap="flat" cmpd="sng" w="12700">
            <a:solidFill>
              <a:srgbClr val="1716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1"/>
          <p:cNvSpPr/>
          <p:nvPr/>
        </p:nvSpPr>
        <p:spPr>
          <a:xfrm flipH="1" rot="-5400000">
            <a:off x="8277900" y="5174825"/>
            <a:ext cx="770400" cy="2022000"/>
          </a:xfrm>
          <a:prstGeom prst="bentUpArrow">
            <a:avLst>
              <a:gd fmla="val 10741" name="adj1"/>
              <a:gd fmla="val 16190" name="adj2"/>
              <a:gd fmla="val 24744" name="adj3"/>
            </a:avLst>
          </a:prstGeom>
          <a:solidFill>
            <a:srgbClr val="AEABAB"/>
          </a:solidFill>
          <a:ln cap="flat" cmpd="sng" w="12700">
            <a:solidFill>
              <a:srgbClr val="171616"/>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Font typeface="Arial"/>
              <a:buNone/>
            </a:pPr>
            <a:r>
              <a:t/>
            </a:r>
            <a:endParaRPr sz="1800">
              <a:solidFill>
                <a:schemeClr val="lt1"/>
              </a:solidFill>
              <a:latin typeface="Calibri"/>
              <a:ea typeface="Calibri"/>
              <a:cs typeface="Calibri"/>
              <a:sym typeface="Calibri"/>
            </a:endParaRPr>
          </a:p>
        </p:txBody>
      </p:sp>
      <p:cxnSp>
        <p:nvCxnSpPr>
          <p:cNvPr id="140" name="Google Shape;140;p1"/>
          <p:cNvCxnSpPr/>
          <p:nvPr/>
        </p:nvCxnSpPr>
        <p:spPr>
          <a:xfrm>
            <a:off x="64575" y="5073750"/>
            <a:ext cx="11663100" cy="14700"/>
          </a:xfrm>
          <a:prstGeom prst="straightConnector1">
            <a:avLst/>
          </a:prstGeom>
          <a:noFill/>
          <a:ln cap="flat" cmpd="sng" w="9525">
            <a:solidFill>
              <a:schemeClr val="dk2"/>
            </a:solidFill>
            <a:prstDash val="solid"/>
            <a:round/>
            <a:headEnd len="med" w="med" type="none"/>
            <a:tailEnd len="med" w="med" type="none"/>
          </a:ln>
        </p:spPr>
      </p:cxnSp>
      <p:cxnSp>
        <p:nvCxnSpPr>
          <p:cNvPr id="141" name="Google Shape;141;p1"/>
          <p:cNvCxnSpPr/>
          <p:nvPr/>
        </p:nvCxnSpPr>
        <p:spPr>
          <a:xfrm>
            <a:off x="85625" y="161650"/>
            <a:ext cx="11901000" cy="21300"/>
          </a:xfrm>
          <a:prstGeom prst="straightConnector1">
            <a:avLst/>
          </a:prstGeom>
          <a:noFill/>
          <a:ln cap="flat" cmpd="sng" w="9525">
            <a:solidFill>
              <a:schemeClr val="dk2"/>
            </a:solidFill>
            <a:prstDash val="solid"/>
            <a:round/>
            <a:headEnd len="med" w="med" type="none"/>
            <a:tailEnd len="med" w="med" type="none"/>
          </a:ln>
        </p:spPr>
      </p:cxnSp>
      <p:cxnSp>
        <p:nvCxnSpPr>
          <p:cNvPr id="142" name="Google Shape;142;p1"/>
          <p:cNvCxnSpPr/>
          <p:nvPr/>
        </p:nvCxnSpPr>
        <p:spPr>
          <a:xfrm>
            <a:off x="98025" y="6745200"/>
            <a:ext cx="11901000" cy="21300"/>
          </a:xfrm>
          <a:prstGeom prst="straightConnector1">
            <a:avLst/>
          </a:prstGeom>
          <a:noFill/>
          <a:ln cap="flat" cmpd="sng" w="9525">
            <a:solidFill>
              <a:schemeClr val="dk2"/>
            </a:solidFill>
            <a:prstDash val="solid"/>
            <a:round/>
            <a:headEnd len="med" w="med" type="none"/>
            <a:tailEnd len="med" w="med" type="none"/>
          </a:ln>
        </p:spPr>
      </p:cxnSp>
      <p:sp>
        <p:nvSpPr>
          <p:cNvPr id="143" name="Google Shape;143;p1"/>
          <p:cNvSpPr txBox="1"/>
          <p:nvPr/>
        </p:nvSpPr>
        <p:spPr>
          <a:xfrm rot="-5400000">
            <a:off x="-612750" y="991163"/>
            <a:ext cx="16950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chemeClr val="dk1"/>
                </a:solidFill>
                <a:latin typeface="Calibri"/>
                <a:ea typeface="Calibri"/>
                <a:cs typeface="Calibri"/>
                <a:sym typeface="Calibri"/>
              </a:rPr>
              <a:t>Data collection</a:t>
            </a:r>
            <a:endParaRPr b="1" sz="1600">
              <a:solidFill>
                <a:schemeClr val="dk1"/>
              </a:solidFill>
              <a:latin typeface="Calibri"/>
              <a:ea typeface="Calibri"/>
              <a:cs typeface="Calibri"/>
              <a:sym typeface="Calibri"/>
            </a:endParaRPr>
          </a:p>
        </p:txBody>
      </p:sp>
      <p:sp>
        <p:nvSpPr>
          <p:cNvPr id="144" name="Google Shape;144;p1"/>
          <p:cNvSpPr txBox="1"/>
          <p:nvPr/>
        </p:nvSpPr>
        <p:spPr>
          <a:xfrm rot="-5400000">
            <a:off x="-538625" y="3376925"/>
            <a:ext cx="1695000" cy="4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chemeClr val="dk1"/>
                </a:solidFill>
                <a:latin typeface="Calibri"/>
                <a:ea typeface="Calibri"/>
                <a:cs typeface="Calibri"/>
                <a:sym typeface="Calibri"/>
              </a:rPr>
              <a:t>Execution</a:t>
            </a:r>
            <a:endParaRPr b="1" sz="1600">
              <a:solidFill>
                <a:schemeClr val="dk1"/>
              </a:solidFill>
              <a:latin typeface="Calibri"/>
              <a:ea typeface="Calibri"/>
              <a:cs typeface="Calibri"/>
              <a:sym typeface="Calibri"/>
            </a:endParaRPr>
          </a:p>
        </p:txBody>
      </p:sp>
      <p:sp>
        <p:nvSpPr>
          <p:cNvPr id="145" name="Google Shape;145;p1"/>
          <p:cNvSpPr txBox="1"/>
          <p:nvPr/>
        </p:nvSpPr>
        <p:spPr>
          <a:xfrm rot="-5400000">
            <a:off x="-555775" y="5679050"/>
            <a:ext cx="1695000" cy="469500"/>
          </a:xfrm>
          <a:prstGeom prst="rect">
            <a:avLst/>
          </a:prstGeom>
          <a:noFill/>
          <a:ln>
            <a:noFill/>
          </a:ln>
        </p:spPr>
        <p:txBody>
          <a:bodyPr anchorCtr="0" anchor="t" bIns="91425" lIns="91425" spcFirstLastPara="1" rIns="115300" wrap="square" tIns="91425">
            <a:noAutofit/>
          </a:bodyPr>
          <a:lstStyle/>
          <a:p>
            <a:pPr indent="0" lvl="0" marL="0" rtl="0" algn="l">
              <a:spcBef>
                <a:spcPts val="0"/>
              </a:spcBef>
              <a:spcAft>
                <a:spcPts val="0"/>
              </a:spcAft>
              <a:buNone/>
            </a:pPr>
            <a:r>
              <a:rPr b="1" lang="en-US" sz="1600">
                <a:solidFill>
                  <a:schemeClr val="dk1"/>
                </a:solidFill>
                <a:latin typeface="Calibri"/>
                <a:ea typeface="Calibri"/>
                <a:cs typeface="Calibri"/>
                <a:sym typeface="Calibri"/>
              </a:rPr>
              <a:t>Documentation</a:t>
            </a:r>
            <a:endParaRPr b="1" sz="16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c0c8e8e194_0_5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4400"/>
              <a:buFont typeface="Calibri"/>
              <a:buNone/>
            </a:pPr>
            <a:r>
              <a:rPr b="1" lang="en-US">
                <a:solidFill>
                  <a:srgbClr val="002060"/>
                </a:solidFill>
              </a:rPr>
              <a:t>Responsibility Matrix</a:t>
            </a:r>
            <a:endParaRPr b="1">
              <a:solidFill>
                <a:srgbClr val="002060"/>
              </a:solidFill>
            </a:endParaRPr>
          </a:p>
        </p:txBody>
      </p:sp>
      <p:graphicFrame>
        <p:nvGraphicFramePr>
          <p:cNvPr id="151" name="Google Shape;151;g2c0c8e8e194_0_52"/>
          <p:cNvGraphicFramePr/>
          <p:nvPr/>
        </p:nvGraphicFramePr>
        <p:xfrm>
          <a:off x="952500" y="2398375"/>
          <a:ext cx="3000000" cy="3000000"/>
        </p:xfrm>
        <a:graphic>
          <a:graphicData uri="http://schemas.openxmlformats.org/drawingml/2006/table">
            <a:tbl>
              <a:tblPr>
                <a:noFill/>
                <a:tableStyleId>{81985FEA-81CE-44D5-92D2-B9694AFBEA3D}</a:tableStyleId>
              </a:tblPr>
              <a:tblGrid>
                <a:gridCol w="2571750"/>
                <a:gridCol w="2571750"/>
                <a:gridCol w="2571750"/>
                <a:gridCol w="2571750"/>
              </a:tblGrid>
              <a:tr h="381000">
                <a:tc>
                  <a:txBody>
                    <a:bodyPr/>
                    <a:lstStyle/>
                    <a:p>
                      <a:pPr indent="0" lvl="0" marL="0" rtl="0" algn="ctr">
                        <a:spcBef>
                          <a:spcPts val="0"/>
                        </a:spcBef>
                        <a:spcAft>
                          <a:spcPts val="0"/>
                        </a:spcAft>
                        <a:buNone/>
                      </a:pPr>
                      <a:r>
                        <a:rPr b="1" lang="en-US"/>
                        <a:t>Responsibility</a:t>
                      </a:r>
                      <a:endParaRPr b="1"/>
                    </a:p>
                  </a:txBody>
                  <a:tcPr marT="91425" marB="91425" marR="91425" marL="91425">
                    <a:solidFill>
                      <a:srgbClr val="F4B081"/>
                    </a:solidFill>
                  </a:tcPr>
                </a:tc>
                <a:tc>
                  <a:txBody>
                    <a:bodyPr/>
                    <a:lstStyle/>
                    <a:p>
                      <a:pPr indent="0" lvl="0" marL="0" rtl="0" algn="ctr">
                        <a:spcBef>
                          <a:spcPts val="0"/>
                        </a:spcBef>
                        <a:spcAft>
                          <a:spcPts val="0"/>
                        </a:spcAft>
                        <a:buNone/>
                      </a:pPr>
                      <a:r>
                        <a:rPr b="1" lang="en-US"/>
                        <a:t>Aishwarya</a:t>
                      </a:r>
                      <a:endParaRPr b="1"/>
                    </a:p>
                  </a:txBody>
                  <a:tcPr marT="91425" marB="91425" marR="91425" marL="91425">
                    <a:solidFill>
                      <a:srgbClr val="F4B081"/>
                    </a:solidFill>
                  </a:tcPr>
                </a:tc>
                <a:tc>
                  <a:txBody>
                    <a:bodyPr/>
                    <a:lstStyle/>
                    <a:p>
                      <a:pPr indent="0" lvl="0" marL="0" rtl="0" algn="ctr">
                        <a:spcBef>
                          <a:spcPts val="0"/>
                        </a:spcBef>
                        <a:spcAft>
                          <a:spcPts val="0"/>
                        </a:spcAft>
                        <a:buNone/>
                      </a:pPr>
                      <a:r>
                        <a:rPr b="1" lang="en-US"/>
                        <a:t>Ana</a:t>
                      </a:r>
                      <a:endParaRPr b="1"/>
                    </a:p>
                  </a:txBody>
                  <a:tcPr marT="91425" marB="91425" marR="91425" marL="91425">
                    <a:solidFill>
                      <a:srgbClr val="F4B081"/>
                    </a:solidFill>
                  </a:tcPr>
                </a:tc>
                <a:tc>
                  <a:txBody>
                    <a:bodyPr/>
                    <a:lstStyle/>
                    <a:p>
                      <a:pPr indent="0" lvl="0" marL="0" rtl="0" algn="ctr">
                        <a:spcBef>
                          <a:spcPts val="0"/>
                        </a:spcBef>
                        <a:spcAft>
                          <a:spcPts val="0"/>
                        </a:spcAft>
                        <a:buNone/>
                      </a:pPr>
                      <a:r>
                        <a:rPr b="1" lang="en-US"/>
                        <a:t>Vishal</a:t>
                      </a:r>
                      <a:endParaRPr b="1"/>
                    </a:p>
                  </a:txBody>
                  <a:tcPr marT="91425" marB="91425" marR="91425" marL="91425">
                    <a:solidFill>
                      <a:srgbClr val="F4B081"/>
                    </a:solidFill>
                  </a:tcPr>
                </a:tc>
              </a:tr>
              <a:tr h="381000">
                <a:tc>
                  <a:txBody>
                    <a:bodyPr/>
                    <a:lstStyle/>
                    <a:p>
                      <a:pPr indent="0" lvl="0" marL="0" rtl="0" algn="l">
                        <a:spcBef>
                          <a:spcPts val="0"/>
                        </a:spcBef>
                        <a:spcAft>
                          <a:spcPts val="0"/>
                        </a:spcAft>
                        <a:buNone/>
                      </a:pPr>
                      <a:r>
                        <a:rPr b="1" i="1" lang="en-US"/>
                        <a:t>Topic Research</a:t>
                      </a:r>
                      <a:endParaRPr b="1" i="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b="1" i="1" lang="en-US"/>
                        <a:t>Data Collection</a:t>
                      </a:r>
                      <a:endParaRPr b="1" i="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b="1" i="1" lang="en-US"/>
                        <a:t>Solver/ Tableau</a:t>
                      </a:r>
                      <a:endParaRPr b="1" i="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b="1" i="1" lang="en-US"/>
                        <a:t>Report Writing</a:t>
                      </a:r>
                      <a:endParaRPr b="1" i="1"/>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b="1" i="1" lang="en-US"/>
                        <a:t>Technical Review</a:t>
                      </a:r>
                      <a:endParaRPr b="1" i="1"/>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52" name="Google Shape;152;g2c0c8e8e194_0_52"/>
          <p:cNvSpPr/>
          <p:nvPr/>
        </p:nvSpPr>
        <p:spPr>
          <a:xfrm>
            <a:off x="4622375" y="2921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3" name="Google Shape;153;g2c0c8e8e194_0_52"/>
          <p:cNvSpPr/>
          <p:nvPr/>
        </p:nvSpPr>
        <p:spPr>
          <a:xfrm>
            <a:off x="7289375" y="2921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4" name="Google Shape;154;g2c0c8e8e194_0_52"/>
          <p:cNvSpPr/>
          <p:nvPr/>
        </p:nvSpPr>
        <p:spPr>
          <a:xfrm>
            <a:off x="9803975" y="2921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5" name="Google Shape;155;g2c0c8e8e194_0_52"/>
          <p:cNvSpPr/>
          <p:nvPr/>
        </p:nvSpPr>
        <p:spPr>
          <a:xfrm>
            <a:off x="4622375" y="3302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6" name="Google Shape;156;g2c0c8e8e194_0_52"/>
          <p:cNvSpPr/>
          <p:nvPr/>
        </p:nvSpPr>
        <p:spPr>
          <a:xfrm>
            <a:off x="7289375" y="3302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7" name="Google Shape;157;g2c0c8e8e194_0_52"/>
          <p:cNvSpPr/>
          <p:nvPr/>
        </p:nvSpPr>
        <p:spPr>
          <a:xfrm>
            <a:off x="9803975" y="3302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8" name="Google Shape;158;g2c0c8e8e194_0_52"/>
          <p:cNvSpPr/>
          <p:nvPr/>
        </p:nvSpPr>
        <p:spPr>
          <a:xfrm>
            <a:off x="4622375" y="3683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9" name="Google Shape;159;g2c0c8e8e194_0_52"/>
          <p:cNvSpPr/>
          <p:nvPr/>
        </p:nvSpPr>
        <p:spPr>
          <a:xfrm>
            <a:off x="7289375" y="3683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2c0c8e8e194_0_52"/>
          <p:cNvSpPr/>
          <p:nvPr/>
        </p:nvSpPr>
        <p:spPr>
          <a:xfrm>
            <a:off x="9803975" y="3683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1" name="Google Shape;161;g2c0c8e8e194_0_52"/>
          <p:cNvSpPr/>
          <p:nvPr/>
        </p:nvSpPr>
        <p:spPr>
          <a:xfrm>
            <a:off x="4622375" y="4064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2c0c8e8e194_0_52"/>
          <p:cNvSpPr/>
          <p:nvPr/>
        </p:nvSpPr>
        <p:spPr>
          <a:xfrm>
            <a:off x="7289375" y="4064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3" name="Google Shape;163;g2c0c8e8e194_0_52"/>
          <p:cNvSpPr/>
          <p:nvPr/>
        </p:nvSpPr>
        <p:spPr>
          <a:xfrm>
            <a:off x="9803975" y="4064425"/>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4" name="Google Shape;164;g2c0c8e8e194_0_52"/>
          <p:cNvSpPr/>
          <p:nvPr/>
        </p:nvSpPr>
        <p:spPr>
          <a:xfrm flipH="1" rot="10800000">
            <a:off x="4622375" y="4501251"/>
            <a:ext cx="2421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5" name="Google Shape;165;g2c0c8e8e194_0_52"/>
          <p:cNvSpPr/>
          <p:nvPr/>
        </p:nvSpPr>
        <p:spPr>
          <a:xfrm flipH="1" rot="10800000">
            <a:off x="7312325" y="4501250"/>
            <a:ext cx="2409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6" name="Google Shape;166;g2c0c8e8e194_0_52"/>
          <p:cNvSpPr/>
          <p:nvPr/>
        </p:nvSpPr>
        <p:spPr>
          <a:xfrm flipH="1" rot="10800000">
            <a:off x="9804575" y="4501250"/>
            <a:ext cx="240900" cy="193800"/>
          </a:xfrm>
          <a:prstGeom prst="star5">
            <a:avLst>
              <a:gd fmla="val 19098" name="adj"/>
              <a:gd fmla="val 105146" name="hf"/>
              <a:gd fmla="val 110557" name="vf"/>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aphicFrame>
        <p:nvGraphicFramePr>
          <p:cNvPr id="171" name="Google Shape;171;g2c0c8e8e194_0_43"/>
          <p:cNvGraphicFramePr/>
          <p:nvPr/>
        </p:nvGraphicFramePr>
        <p:xfrm>
          <a:off x="111300" y="947000"/>
          <a:ext cx="3000000" cy="3000000"/>
        </p:xfrm>
        <a:graphic>
          <a:graphicData uri="http://schemas.openxmlformats.org/drawingml/2006/table">
            <a:tbl>
              <a:tblPr>
                <a:noFill/>
                <a:tableStyleId>{B3E626AE-A641-430D-AF40-8EAA452E8689}</a:tableStyleId>
              </a:tblPr>
              <a:tblGrid>
                <a:gridCol w="1456825"/>
                <a:gridCol w="2932550"/>
                <a:gridCol w="1664175"/>
                <a:gridCol w="3260050"/>
                <a:gridCol w="2655775"/>
              </a:tblGrid>
              <a:tr h="723700">
                <a:tc>
                  <a:txBody>
                    <a:bodyPr/>
                    <a:lstStyle/>
                    <a:p>
                      <a:pPr indent="0" lvl="0" marL="0" rtl="0" algn="ctr">
                        <a:lnSpc>
                          <a:spcPct val="115000"/>
                        </a:lnSpc>
                        <a:spcBef>
                          <a:spcPts val="1200"/>
                        </a:spcBef>
                        <a:spcAft>
                          <a:spcPts val="1200"/>
                        </a:spcAft>
                        <a:buNone/>
                      </a:pPr>
                      <a:r>
                        <a:rPr b="1" i="1" lang="en-US" sz="1500">
                          <a:solidFill>
                            <a:srgbClr val="002060"/>
                          </a:solidFill>
                        </a:rPr>
                        <a:t>Reference</a:t>
                      </a:r>
                      <a:endParaRPr b="1" i="1" sz="1500">
                        <a:solidFill>
                          <a:srgbClr val="002060"/>
                        </a:solidFill>
                      </a:endParaRPr>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i="1" lang="en-US" sz="1500">
                          <a:solidFill>
                            <a:srgbClr val="002060"/>
                          </a:solidFill>
                        </a:rPr>
                        <a:t>Topic</a:t>
                      </a:r>
                      <a:endParaRPr b="1" i="1" sz="1500">
                        <a:solidFill>
                          <a:srgbClr val="002060"/>
                        </a:solidFill>
                      </a:endParaRPr>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i="1" lang="en-US" sz="1500">
                          <a:solidFill>
                            <a:srgbClr val="002060"/>
                          </a:solidFill>
                        </a:rPr>
                        <a:t>Method</a:t>
                      </a:r>
                      <a:endParaRPr b="1" i="1" sz="1500">
                        <a:solidFill>
                          <a:srgbClr val="002060"/>
                        </a:solidFill>
                      </a:endParaRPr>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i="1" lang="en-US" sz="1500">
                          <a:solidFill>
                            <a:srgbClr val="002060"/>
                          </a:solidFill>
                        </a:rPr>
                        <a:t>Strength</a:t>
                      </a:r>
                      <a:endParaRPr b="1" i="1" sz="1500">
                        <a:solidFill>
                          <a:srgbClr val="002060"/>
                        </a:solidFill>
                      </a:endParaRPr>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i="1" lang="en-US" sz="1500">
                          <a:solidFill>
                            <a:srgbClr val="002060"/>
                          </a:solidFill>
                        </a:rPr>
                        <a:t>Weakness</a:t>
                      </a:r>
                      <a:endParaRPr b="1" i="1" sz="1500">
                        <a:solidFill>
                          <a:srgbClr val="002060"/>
                        </a:solidFill>
                      </a:endParaRPr>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r>
              <a:tr h="1319800">
                <a:tc>
                  <a:txBody>
                    <a:bodyPr/>
                    <a:lstStyle/>
                    <a:p>
                      <a:pPr indent="0" lvl="0" marL="0" rtl="0" algn="l">
                        <a:lnSpc>
                          <a:spcPct val="115000"/>
                        </a:lnSpc>
                        <a:spcBef>
                          <a:spcPts val="1200"/>
                        </a:spcBef>
                        <a:spcAft>
                          <a:spcPts val="1200"/>
                        </a:spcAft>
                        <a:buNone/>
                      </a:pPr>
                      <a:r>
                        <a:rPr i="1" lang="en-US" sz="1100"/>
                        <a:t>Dávila et al. (2021)</a:t>
                      </a:r>
                      <a:endParaRPr i="1"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Vehicle Routing Problem with Deadline and Stochastic Service Times: Case of the Ice Cream Industry in Santiago City of Chile.</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Tabu Search and Chaotic Search with Monte Carlo simulations</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Effective in dealing with stochastic service times and optimizing routes, leading to cost savings and efficiency in delivery.</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Longer resolution times, reduced maximum customer capacity, increased demands for distances and vehicles</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r>
              <a:tr h="1319800">
                <a:tc>
                  <a:txBody>
                    <a:bodyPr/>
                    <a:lstStyle/>
                    <a:p>
                      <a:pPr indent="0" lvl="0" marL="0" rtl="0" algn="l">
                        <a:lnSpc>
                          <a:spcPct val="115000"/>
                        </a:lnSpc>
                        <a:spcBef>
                          <a:spcPts val="1200"/>
                        </a:spcBef>
                        <a:spcAft>
                          <a:spcPts val="1200"/>
                        </a:spcAft>
                        <a:buNone/>
                      </a:pPr>
                      <a:r>
                        <a:rPr i="1" lang="en-US" sz="1100"/>
                        <a:t>Puspitasari et al. (2020)</a:t>
                      </a:r>
                      <a:endParaRPr i="1"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Modeling the best route and truck capacity for delivering ice cream product</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Vehicle Routing Problem, ECOST Method.</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Optimizes truck capacity and routes for cost reduction, considering unique ice cream temperature requirements.</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Solving the VRP model, particularly for large-scale distribution networks, can be computationally intensive and time-consuming.</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r>
              <a:tr h="1319800">
                <a:tc>
                  <a:txBody>
                    <a:bodyPr/>
                    <a:lstStyle/>
                    <a:p>
                      <a:pPr indent="0" lvl="0" marL="0" rtl="0" algn="l">
                        <a:lnSpc>
                          <a:spcPct val="115000"/>
                        </a:lnSpc>
                        <a:spcBef>
                          <a:spcPts val="1200"/>
                        </a:spcBef>
                        <a:spcAft>
                          <a:spcPts val="1200"/>
                        </a:spcAft>
                        <a:buNone/>
                      </a:pPr>
                      <a:r>
                        <a:rPr i="1" lang="en-US" sz="1100"/>
                        <a:t>Zhang &amp; Chen (2014)</a:t>
                      </a:r>
                      <a:endParaRPr i="1"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An  Optimization  Model  for  the  Vehicle  Routing  Problem  in  Multi-product Frozen Food Delivery</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Genetic Algorithm Heuristic</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Optimizes frozen food delivery for cost-efficiency while maintaining freshness and safety.</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The study doesn’t include complex assumptions, so there are real world factor that is not considered in the optimization model</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r>
              <a:tr h="843850">
                <a:tc>
                  <a:txBody>
                    <a:bodyPr/>
                    <a:lstStyle/>
                    <a:p>
                      <a:pPr indent="0" lvl="0" marL="0" rtl="0" algn="l">
                        <a:lnSpc>
                          <a:spcPct val="115000"/>
                        </a:lnSpc>
                        <a:spcBef>
                          <a:spcPts val="1200"/>
                        </a:spcBef>
                        <a:spcAft>
                          <a:spcPts val="1200"/>
                        </a:spcAft>
                        <a:buNone/>
                      </a:pPr>
                      <a:r>
                        <a:rPr i="1" lang="en-US" sz="1100"/>
                        <a:t>Qin et al. (2019)</a:t>
                      </a:r>
                      <a:endParaRPr i="1" sz="1100">
                        <a:solidFill>
                          <a:srgbClr val="374151"/>
                        </a:solidFill>
                        <a:latin typeface="Roboto"/>
                        <a:ea typeface="Roboto"/>
                        <a:cs typeface="Roboto"/>
                        <a:sym typeface="Roboto"/>
                      </a:endParaRPr>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A Vehicle Routing Optimization Problem for Cold Chain Logistics Considering Customer Satisfaction and Carbon Emissions.</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Cycle Evolutionary Genetic Algorithm (CEGA)</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High cost-effectiveness and scientific validity, achieving 70% customer satisfaction with minimal cost increases</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1100"/>
                        <a:t>No customer satisfaction factor are included in the algorithm</a:t>
                      </a:r>
                      <a:endParaRPr sz="1100"/>
                    </a:p>
                  </a:txBody>
                  <a:tcPr marT="91425" marB="91425" marR="68575" marL="68575">
                    <a:lnL cap="flat" cmpd="sng" w="9525">
                      <a:solidFill>
                        <a:srgbClr val="213F76"/>
                      </a:solidFill>
                      <a:prstDash val="solid"/>
                      <a:round/>
                      <a:headEnd len="sm" w="sm" type="none"/>
                      <a:tailEnd len="sm" w="sm" type="none"/>
                    </a:lnL>
                    <a:lnR cap="flat" cmpd="sng" w="9525">
                      <a:solidFill>
                        <a:srgbClr val="213F76"/>
                      </a:solidFill>
                      <a:prstDash val="solid"/>
                      <a:round/>
                      <a:headEnd len="sm" w="sm" type="none"/>
                      <a:tailEnd len="sm" w="sm" type="none"/>
                    </a:lnR>
                    <a:lnT cap="flat" cmpd="sng" w="9525">
                      <a:solidFill>
                        <a:srgbClr val="213F76"/>
                      </a:solidFill>
                      <a:prstDash val="solid"/>
                      <a:round/>
                      <a:headEnd len="sm" w="sm" type="none"/>
                      <a:tailEnd len="sm" w="sm" type="none"/>
                    </a:lnT>
                    <a:lnB cap="flat" cmpd="sng" w="9525">
                      <a:solidFill>
                        <a:srgbClr val="213F76"/>
                      </a:solidFill>
                      <a:prstDash val="solid"/>
                      <a:round/>
                      <a:headEnd len="sm" w="sm" type="none"/>
                      <a:tailEnd len="sm" w="sm" type="none"/>
                    </a:lnB>
                  </a:tcPr>
                </a:tc>
              </a:tr>
            </a:tbl>
          </a:graphicData>
        </a:graphic>
      </p:graphicFrame>
      <p:sp>
        <p:nvSpPr>
          <p:cNvPr id="172" name="Google Shape;172;g2c0c8e8e194_0_43"/>
          <p:cNvSpPr txBox="1"/>
          <p:nvPr/>
        </p:nvSpPr>
        <p:spPr>
          <a:xfrm>
            <a:off x="155925" y="205525"/>
            <a:ext cx="6425400" cy="6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rgbClr val="002060"/>
                </a:solidFill>
                <a:latin typeface="Calibri"/>
                <a:ea typeface="Calibri"/>
                <a:cs typeface="Calibri"/>
                <a:sym typeface="Calibri"/>
              </a:rPr>
              <a:t>Literature Review</a:t>
            </a:r>
            <a:endParaRPr b="1" sz="2800">
              <a:solidFill>
                <a:srgbClr val="00206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en-US">
                <a:solidFill>
                  <a:srgbClr val="002060"/>
                </a:solidFill>
              </a:rPr>
              <a:t>Methodology</a:t>
            </a:r>
            <a:endParaRPr/>
          </a:p>
        </p:txBody>
      </p:sp>
      <p:sp>
        <p:nvSpPr>
          <p:cNvPr id="178" name="Google Shape;178;p3"/>
          <p:cNvSpPr/>
          <p:nvPr/>
        </p:nvSpPr>
        <p:spPr>
          <a:xfrm>
            <a:off x="490888" y="3570972"/>
            <a:ext cx="1905802" cy="64489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Data Collection</a:t>
            </a:r>
            <a:endParaRPr/>
          </a:p>
        </p:txBody>
      </p:sp>
      <p:cxnSp>
        <p:nvCxnSpPr>
          <p:cNvPr id="179" name="Google Shape;179;p3"/>
          <p:cNvCxnSpPr>
            <a:stCxn id="178" idx="3"/>
            <a:endCxn id="180" idx="1"/>
          </p:cNvCxnSpPr>
          <p:nvPr/>
        </p:nvCxnSpPr>
        <p:spPr>
          <a:xfrm flipH="1" rot="10800000">
            <a:off x="2396690" y="3123318"/>
            <a:ext cx="1742100" cy="770100"/>
          </a:xfrm>
          <a:prstGeom prst="straightConnector1">
            <a:avLst/>
          </a:prstGeom>
          <a:noFill/>
          <a:ln cap="flat" cmpd="sng" w="9525">
            <a:solidFill>
              <a:schemeClr val="accent1"/>
            </a:solidFill>
            <a:prstDash val="solid"/>
            <a:miter lim="800000"/>
            <a:headEnd len="sm" w="sm" type="none"/>
            <a:tailEnd len="med" w="med" type="triangle"/>
          </a:ln>
        </p:spPr>
      </p:cxnSp>
      <p:sp>
        <p:nvSpPr>
          <p:cNvPr id="180" name="Google Shape;180;p3"/>
          <p:cNvSpPr/>
          <p:nvPr/>
        </p:nvSpPr>
        <p:spPr>
          <a:xfrm>
            <a:off x="4138848" y="2926075"/>
            <a:ext cx="1905900" cy="394500"/>
          </a:xfrm>
          <a:prstGeom prst="rect">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Capacity</a:t>
            </a:r>
            <a:endParaRPr/>
          </a:p>
        </p:txBody>
      </p:sp>
      <p:sp>
        <p:nvSpPr>
          <p:cNvPr id="181" name="Google Shape;181;p3"/>
          <p:cNvSpPr/>
          <p:nvPr/>
        </p:nvSpPr>
        <p:spPr>
          <a:xfrm>
            <a:off x="4138848" y="3687650"/>
            <a:ext cx="1905900" cy="528300"/>
          </a:xfrm>
          <a:prstGeom prst="rect">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Time window</a:t>
            </a:r>
            <a:endParaRPr/>
          </a:p>
        </p:txBody>
      </p:sp>
      <p:sp>
        <p:nvSpPr>
          <p:cNvPr id="182" name="Google Shape;182;p3"/>
          <p:cNvSpPr/>
          <p:nvPr/>
        </p:nvSpPr>
        <p:spPr>
          <a:xfrm>
            <a:off x="4138800" y="4524450"/>
            <a:ext cx="1929600" cy="716700"/>
          </a:xfrm>
          <a:prstGeom prst="rect">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Delivery </a:t>
            </a:r>
            <a:r>
              <a:rPr lang="en-US" sz="1800">
                <a:solidFill>
                  <a:schemeClr val="lt1"/>
                </a:solidFill>
                <a:latin typeface="Calibri"/>
                <a:ea typeface="Calibri"/>
                <a:cs typeface="Calibri"/>
                <a:sym typeface="Calibri"/>
              </a:rPr>
              <a:t>at least</a:t>
            </a:r>
            <a:r>
              <a:rPr lang="en-US" sz="1800">
                <a:solidFill>
                  <a:schemeClr val="lt1"/>
                </a:solidFill>
                <a:latin typeface="Calibri"/>
                <a:ea typeface="Calibri"/>
                <a:cs typeface="Calibri"/>
                <a:sym typeface="Calibri"/>
              </a:rPr>
              <a:t> ones in the route</a:t>
            </a:r>
            <a:endParaRPr/>
          </a:p>
        </p:txBody>
      </p:sp>
      <p:cxnSp>
        <p:nvCxnSpPr>
          <p:cNvPr id="183" name="Google Shape;183;p3"/>
          <p:cNvCxnSpPr>
            <a:stCxn id="178" idx="3"/>
            <a:endCxn id="182" idx="1"/>
          </p:cNvCxnSpPr>
          <p:nvPr/>
        </p:nvCxnSpPr>
        <p:spPr>
          <a:xfrm>
            <a:off x="2396690" y="3893419"/>
            <a:ext cx="1742100" cy="989400"/>
          </a:xfrm>
          <a:prstGeom prst="straightConnector1">
            <a:avLst/>
          </a:prstGeom>
          <a:noFill/>
          <a:ln cap="flat" cmpd="sng" w="9525">
            <a:solidFill>
              <a:schemeClr val="accent1"/>
            </a:solidFill>
            <a:prstDash val="solid"/>
            <a:miter lim="800000"/>
            <a:headEnd len="sm" w="sm" type="none"/>
            <a:tailEnd len="med" w="med" type="triangle"/>
          </a:ln>
        </p:spPr>
      </p:cxnSp>
      <p:cxnSp>
        <p:nvCxnSpPr>
          <p:cNvPr id="184" name="Google Shape;184;p3"/>
          <p:cNvCxnSpPr>
            <a:stCxn id="178" idx="3"/>
            <a:endCxn id="181" idx="1"/>
          </p:cNvCxnSpPr>
          <p:nvPr/>
        </p:nvCxnSpPr>
        <p:spPr>
          <a:xfrm>
            <a:off x="2396690" y="3893419"/>
            <a:ext cx="1742100" cy="58500"/>
          </a:xfrm>
          <a:prstGeom prst="straightConnector1">
            <a:avLst/>
          </a:prstGeom>
          <a:noFill/>
          <a:ln cap="flat" cmpd="sng" w="9525">
            <a:solidFill>
              <a:schemeClr val="accent1"/>
            </a:solidFill>
            <a:prstDash val="solid"/>
            <a:miter lim="800000"/>
            <a:headEnd len="sm" w="sm" type="none"/>
            <a:tailEnd len="med" w="med" type="triangle"/>
          </a:ln>
        </p:spPr>
      </p:cxnSp>
      <p:cxnSp>
        <p:nvCxnSpPr>
          <p:cNvPr id="185" name="Google Shape;185;p3"/>
          <p:cNvCxnSpPr>
            <a:stCxn id="180" idx="3"/>
          </p:cNvCxnSpPr>
          <p:nvPr/>
        </p:nvCxnSpPr>
        <p:spPr>
          <a:xfrm>
            <a:off x="6044748" y="3123325"/>
            <a:ext cx="1344300" cy="770100"/>
          </a:xfrm>
          <a:prstGeom prst="straightConnector1">
            <a:avLst/>
          </a:prstGeom>
          <a:noFill/>
          <a:ln cap="flat" cmpd="sng" w="9525">
            <a:solidFill>
              <a:schemeClr val="accent1"/>
            </a:solidFill>
            <a:prstDash val="solid"/>
            <a:miter lim="800000"/>
            <a:headEnd len="sm" w="sm" type="none"/>
            <a:tailEnd len="med" w="med" type="triangle"/>
          </a:ln>
        </p:spPr>
      </p:cxnSp>
      <p:cxnSp>
        <p:nvCxnSpPr>
          <p:cNvPr id="186" name="Google Shape;186;p3"/>
          <p:cNvCxnSpPr>
            <a:stCxn id="181" idx="3"/>
          </p:cNvCxnSpPr>
          <p:nvPr/>
        </p:nvCxnSpPr>
        <p:spPr>
          <a:xfrm flipH="1" rot="10800000">
            <a:off x="6044748" y="3948500"/>
            <a:ext cx="1344300" cy="3300"/>
          </a:xfrm>
          <a:prstGeom prst="straightConnector1">
            <a:avLst/>
          </a:prstGeom>
          <a:noFill/>
          <a:ln cap="flat" cmpd="sng" w="9525">
            <a:solidFill>
              <a:schemeClr val="accent1"/>
            </a:solidFill>
            <a:prstDash val="solid"/>
            <a:miter lim="800000"/>
            <a:headEnd len="sm" w="sm" type="none"/>
            <a:tailEnd len="med" w="med" type="triangle"/>
          </a:ln>
        </p:spPr>
      </p:cxnSp>
      <p:cxnSp>
        <p:nvCxnSpPr>
          <p:cNvPr id="187" name="Google Shape;187;p3"/>
          <p:cNvCxnSpPr>
            <a:stCxn id="182" idx="3"/>
          </p:cNvCxnSpPr>
          <p:nvPr/>
        </p:nvCxnSpPr>
        <p:spPr>
          <a:xfrm flipH="1" rot="10800000">
            <a:off x="6068400" y="4189500"/>
            <a:ext cx="1344300" cy="693300"/>
          </a:xfrm>
          <a:prstGeom prst="straightConnector1">
            <a:avLst/>
          </a:prstGeom>
          <a:noFill/>
          <a:ln cap="flat" cmpd="sng" w="9525">
            <a:solidFill>
              <a:schemeClr val="accent1"/>
            </a:solidFill>
            <a:prstDash val="solid"/>
            <a:miter lim="800000"/>
            <a:headEnd len="sm" w="sm" type="none"/>
            <a:tailEnd len="med" w="med" type="triangle"/>
          </a:ln>
        </p:spPr>
      </p:cxnSp>
      <p:sp>
        <p:nvSpPr>
          <p:cNvPr id="188" name="Google Shape;188;p3"/>
          <p:cNvSpPr/>
          <p:nvPr/>
        </p:nvSpPr>
        <p:spPr>
          <a:xfrm>
            <a:off x="7075771" y="3662706"/>
            <a:ext cx="1905802" cy="644893"/>
          </a:xfrm>
          <a:prstGeom prst="rect">
            <a:avLst/>
          </a:prstGeom>
          <a:solidFill>
            <a:srgbClr val="92D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Spreadsheet solver</a:t>
            </a:r>
            <a:endParaRPr/>
          </a:p>
        </p:txBody>
      </p:sp>
      <p:cxnSp>
        <p:nvCxnSpPr>
          <p:cNvPr id="189" name="Google Shape;189;p3"/>
          <p:cNvCxnSpPr>
            <a:stCxn id="188" idx="3"/>
          </p:cNvCxnSpPr>
          <p:nvPr/>
        </p:nvCxnSpPr>
        <p:spPr>
          <a:xfrm>
            <a:off x="8981573" y="3985153"/>
            <a:ext cx="1057500" cy="0"/>
          </a:xfrm>
          <a:prstGeom prst="straightConnector1">
            <a:avLst/>
          </a:prstGeom>
          <a:noFill/>
          <a:ln cap="flat" cmpd="sng" w="9525">
            <a:solidFill>
              <a:schemeClr val="accent1"/>
            </a:solidFill>
            <a:prstDash val="solid"/>
            <a:miter lim="800000"/>
            <a:headEnd len="sm" w="sm" type="none"/>
            <a:tailEnd len="med" w="med" type="triangle"/>
          </a:ln>
        </p:spPr>
      </p:cxnSp>
      <p:sp>
        <p:nvSpPr>
          <p:cNvPr id="190" name="Google Shape;190;p3"/>
          <p:cNvSpPr/>
          <p:nvPr/>
        </p:nvSpPr>
        <p:spPr>
          <a:xfrm>
            <a:off x="10016289" y="3662706"/>
            <a:ext cx="1905802" cy="64489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Optimized Vehicle Route</a:t>
            </a:r>
            <a:endParaRPr/>
          </a:p>
        </p:txBody>
      </p:sp>
      <p:cxnSp>
        <p:nvCxnSpPr>
          <p:cNvPr id="191" name="Google Shape;191;p3"/>
          <p:cNvCxnSpPr>
            <a:stCxn id="190" idx="2"/>
          </p:cNvCxnSpPr>
          <p:nvPr/>
        </p:nvCxnSpPr>
        <p:spPr>
          <a:xfrm>
            <a:off x="10969190" y="4307599"/>
            <a:ext cx="0" cy="716700"/>
          </a:xfrm>
          <a:prstGeom prst="straightConnector1">
            <a:avLst/>
          </a:prstGeom>
          <a:noFill/>
          <a:ln cap="flat" cmpd="sng" w="9525">
            <a:solidFill>
              <a:schemeClr val="accent1"/>
            </a:solidFill>
            <a:prstDash val="solid"/>
            <a:miter lim="800000"/>
            <a:headEnd len="sm" w="sm" type="none"/>
            <a:tailEnd len="med" w="med" type="triangle"/>
          </a:ln>
        </p:spPr>
      </p:cxnSp>
      <p:sp>
        <p:nvSpPr>
          <p:cNvPr id="192" name="Google Shape;192;p3"/>
          <p:cNvSpPr/>
          <p:nvPr/>
        </p:nvSpPr>
        <p:spPr>
          <a:xfrm>
            <a:off x="10039149" y="5024387"/>
            <a:ext cx="1905802" cy="644893"/>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Scalability</a:t>
            </a:r>
            <a:endParaRPr/>
          </a:p>
        </p:txBody>
      </p:sp>
      <p:sp>
        <p:nvSpPr>
          <p:cNvPr id="193" name="Google Shape;193;p3"/>
          <p:cNvSpPr txBox="1"/>
          <p:nvPr/>
        </p:nvSpPr>
        <p:spPr>
          <a:xfrm>
            <a:off x="443500" y="5326200"/>
            <a:ext cx="9151200" cy="431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6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en-US">
                <a:solidFill>
                  <a:srgbClr val="002060"/>
                </a:solidFill>
              </a:rPr>
              <a:t>Tools used</a:t>
            </a:r>
            <a:endParaRPr/>
          </a:p>
        </p:txBody>
      </p:sp>
      <p:sp>
        <p:nvSpPr>
          <p:cNvPr id="199" name="Google Shape;199;p4"/>
          <p:cNvSpPr txBox="1"/>
          <p:nvPr>
            <p:ph idx="1" type="body"/>
          </p:nvPr>
        </p:nvSpPr>
        <p:spPr>
          <a:xfrm>
            <a:off x="554000" y="1763150"/>
            <a:ext cx="109050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US"/>
              <a:t>Excel Spreadsheet Solver</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US" sz="1700">
                <a:solidFill>
                  <a:srgbClr val="0D0D0D"/>
                </a:solidFill>
                <a:highlight>
                  <a:srgbClr val="FFFFFF"/>
                </a:highlight>
              </a:rPr>
              <a:t> </a:t>
            </a:r>
            <a:r>
              <a:rPr lang="en-US" sz="1900">
                <a:solidFill>
                  <a:srgbClr val="0D0D0D"/>
                </a:solidFill>
                <a:highlight>
                  <a:srgbClr val="FFFFFF"/>
                </a:highlight>
              </a:rPr>
              <a:t>Optimizes vehicle routes by organizing key data (locations, distances, capacities) in spreadsheets and employing algorithms to minimize travel distance and time, thus saving fuel and boosting service efficiency.</a:t>
            </a:r>
            <a:endParaRPr sz="3500"/>
          </a:p>
          <a:p>
            <a:pPr indent="0" lvl="0" marL="0" rtl="0" algn="l">
              <a:lnSpc>
                <a:spcPct val="90000"/>
              </a:lnSpc>
              <a:spcBef>
                <a:spcPts val="0"/>
              </a:spcBef>
              <a:spcAft>
                <a:spcPts val="0"/>
              </a:spcAft>
              <a:buNone/>
            </a:pPr>
            <a:r>
              <a:t/>
            </a:r>
            <a:endParaRPr sz="3500"/>
          </a:p>
          <a:p>
            <a:pPr indent="-342900" lvl="0" marL="457200" rtl="0" algn="l">
              <a:lnSpc>
                <a:spcPct val="90000"/>
              </a:lnSpc>
              <a:spcBef>
                <a:spcPts val="0"/>
              </a:spcBef>
              <a:spcAft>
                <a:spcPts val="0"/>
              </a:spcAft>
              <a:buSzPts val="1800"/>
              <a:buChar char="●"/>
            </a:pPr>
            <a:r>
              <a:rPr lang="en-US"/>
              <a:t>Tableau</a:t>
            </a:r>
            <a:endParaRPr/>
          </a:p>
          <a:p>
            <a:pPr indent="0" lvl="0" marL="0" rtl="0" algn="l">
              <a:lnSpc>
                <a:spcPct val="90000"/>
              </a:lnSpc>
              <a:spcBef>
                <a:spcPts val="0"/>
              </a:spcBef>
              <a:spcAft>
                <a:spcPts val="0"/>
              </a:spcAft>
              <a:buNone/>
            </a:pPr>
            <a:r>
              <a:t/>
            </a:r>
            <a:endParaRPr/>
          </a:p>
          <a:p>
            <a:pPr indent="0" lvl="0" marL="228600" rtl="0" algn="l">
              <a:lnSpc>
                <a:spcPct val="90000"/>
              </a:lnSpc>
              <a:spcBef>
                <a:spcPts val="0"/>
              </a:spcBef>
              <a:spcAft>
                <a:spcPts val="0"/>
              </a:spcAft>
              <a:buNone/>
            </a:pPr>
            <a:r>
              <a:t/>
            </a:r>
            <a:endParaRPr/>
          </a:p>
        </p:txBody>
      </p:sp>
      <p:sp>
        <p:nvSpPr>
          <p:cNvPr id="200" name="Google Shape;200;p4"/>
          <p:cNvSpPr txBox="1"/>
          <p:nvPr/>
        </p:nvSpPr>
        <p:spPr>
          <a:xfrm>
            <a:off x="675975" y="4320077"/>
            <a:ext cx="10336500" cy="8466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0"/>
              </a:spcBef>
              <a:spcAft>
                <a:spcPts val="0"/>
              </a:spcAft>
              <a:buClr>
                <a:schemeClr val="dk1"/>
              </a:buClr>
              <a:buSzPts val="1100"/>
              <a:buFont typeface="Arial"/>
              <a:buNone/>
            </a:pPr>
            <a:r>
              <a:rPr lang="en-US" sz="1700">
                <a:solidFill>
                  <a:srgbClr val="0D0D0D"/>
                </a:solidFill>
                <a:highlight>
                  <a:srgbClr val="FFFFFF"/>
                </a:highlight>
                <a:latin typeface="Calibri"/>
                <a:ea typeface="Calibri"/>
                <a:cs typeface="Calibri"/>
                <a:sym typeface="Calibri"/>
              </a:rPr>
              <a:t>Utilized to graphically represent the optimized delivery routes for Baskin Robbins ice-cream to suburban outlets, providing a clear, interactive map that highlights the most efficient pathways determined by the ExcelVRP solver.</a:t>
            </a:r>
            <a:endParaRPr sz="1800">
              <a:solidFill>
                <a:srgbClr val="0D0D0D"/>
              </a:solidFill>
              <a:highlight>
                <a:srgbClr val="FFFFFF"/>
              </a:highlight>
              <a:latin typeface="Calibri"/>
              <a:ea typeface="Calibri"/>
              <a:cs typeface="Calibri"/>
              <a:sym typeface="Calibri"/>
            </a:endParaRPr>
          </a:p>
          <a:p>
            <a:pPr indent="0" lvl="0" marL="0" marR="0" rtl="0" algn="l">
              <a:spcBef>
                <a:spcPts val="0"/>
              </a:spcBef>
              <a:spcAft>
                <a:spcPts val="0"/>
              </a:spcAft>
              <a:buNone/>
            </a:pPr>
            <a:r>
              <a:t/>
            </a:r>
            <a:endParaRPr sz="1500">
              <a:solidFill>
                <a:srgbClr val="0D0D0D"/>
              </a:solidFill>
              <a:highlight>
                <a:srgbClr val="FFFFFF"/>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2c0cb89dab2_1_0"/>
          <p:cNvSpPr txBox="1"/>
          <p:nvPr/>
        </p:nvSpPr>
        <p:spPr>
          <a:xfrm>
            <a:off x="159201" y="1344757"/>
            <a:ext cx="7826700" cy="4795500"/>
          </a:xfrm>
          <a:prstGeom prst="rect">
            <a:avLst/>
          </a:prstGeom>
          <a:blipFill rotWithShape="1">
            <a:blip r:embed="rId3">
              <a:alphaModFix/>
            </a:blip>
            <a:stretch>
              <a:fillRect b="-518" l="-159" r="0" t="-1084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206" name="Google Shape;206;g2c0cb89dab2_1_0"/>
          <p:cNvSpPr txBox="1"/>
          <p:nvPr/>
        </p:nvSpPr>
        <p:spPr>
          <a:xfrm>
            <a:off x="7102258" y="1288650"/>
            <a:ext cx="4609500" cy="2330700"/>
          </a:xfrm>
          <a:prstGeom prst="rect">
            <a:avLst/>
          </a:prstGeom>
          <a:blipFill rotWithShape="1">
            <a:blip r:embed="rId4">
              <a:alphaModFix/>
            </a:blip>
            <a:stretch>
              <a:fillRect b="-2169"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207" name="Google Shape;207;g2c0cb89dab2_1_0"/>
          <p:cNvSpPr txBox="1"/>
          <p:nvPr/>
        </p:nvSpPr>
        <p:spPr>
          <a:xfrm>
            <a:off x="6780350" y="4301950"/>
            <a:ext cx="5253300" cy="1708500"/>
          </a:xfrm>
          <a:prstGeom prst="rect">
            <a:avLst/>
          </a:prstGeom>
          <a:noFill/>
          <a:ln>
            <a:noFill/>
          </a:ln>
        </p:spPr>
        <p:txBody>
          <a:bodyPr anchorCtr="0" anchor="t" bIns="45700" lIns="91425" spcFirstLastPara="1" rIns="91425" wrap="square" tIns="45700">
            <a:spAutoFit/>
          </a:bodyPr>
          <a:lstStyle/>
          <a:p>
            <a:pPr indent="-323850" lvl="0" marL="342900" marR="0" rtl="0" algn="l">
              <a:spcBef>
                <a:spcPts val="0"/>
              </a:spcBef>
              <a:spcAft>
                <a:spcPts val="0"/>
              </a:spcAft>
              <a:buClr>
                <a:schemeClr val="dk1"/>
              </a:buClr>
              <a:buSzPts val="1500"/>
              <a:buFont typeface="Arial"/>
              <a:buAutoNum type="arabicParenBoth"/>
            </a:pPr>
            <a:r>
              <a:rPr lang="en-US" sz="1500">
                <a:solidFill>
                  <a:schemeClr val="dk1"/>
                </a:solidFill>
                <a:latin typeface="Arial"/>
                <a:ea typeface="Arial"/>
                <a:cs typeface="Arial"/>
                <a:sym typeface="Arial"/>
              </a:rPr>
              <a:t>Demand constraint, at least meet the weekly demand</a:t>
            </a:r>
            <a:endParaRPr sz="1100"/>
          </a:p>
          <a:p>
            <a:pPr indent="-323850" lvl="0" marL="342900" marR="0" rtl="0" algn="l">
              <a:spcBef>
                <a:spcPts val="0"/>
              </a:spcBef>
              <a:spcAft>
                <a:spcPts val="0"/>
              </a:spcAft>
              <a:buClr>
                <a:schemeClr val="dk1"/>
              </a:buClr>
              <a:buSzPts val="1500"/>
              <a:buFont typeface="Arial"/>
              <a:buAutoNum type="arabicParenBoth"/>
            </a:pPr>
            <a:r>
              <a:rPr lang="en-US" sz="1500">
                <a:solidFill>
                  <a:schemeClr val="dk1"/>
                </a:solidFill>
                <a:latin typeface="Arial"/>
                <a:ea typeface="Arial"/>
                <a:cs typeface="Arial"/>
                <a:sym typeface="Arial"/>
              </a:rPr>
              <a:t>Capacity constraint, not exceed the capacity of the truck</a:t>
            </a:r>
            <a:endParaRPr sz="1100"/>
          </a:p>
          <a:p>
            <a:pPr indent="-323850" lvl="0" marL="342900" marR="0" rtl="0" algn="l">
              <a:spcBef>
                <a:spcPts val="0"/>
              </a:spcBef>
              <a:spcAft>
                <a:spcPts val="0"/>
              </a:spcAft>
              <a:buClr>
                <a:schemeClr val="dk1"/>
              </a:buClr>
              <a:buSzPts val="1500"/>
              <a:buFont typeface="Arial"/>
              <a:buAutoNum type="arabicParenBoth"/>
            </a:pPr>
            <a:r>
              <a:rPr lang="en-US" sz="1500">
                <a:solidFill>
                  <a:schemeClr val="dk1"/>
                </a:solidFill>
                <a:latin typeface="Arial"/>
                <a:ea typeface="Arial"/>
                <a:cs typeface="Arial"/>
                <a:sym typeface="Arial"/>
              </a:rPr>
              <a:t>Each location needs to be visited once</a:t>
            </a:r>
            <a:endParaRPr sz="1100"/>
          </a:p>
          <a:p>
            <a:pPr indent="-323850" lvl="0" marL="342900" marR="0" rtl="0" algn="l">
              <a:spcBef>
                <a:spcPts val="0"/>
              </a:spcBef>
              <a:spcAft>
                <a:spcPts val="0"/>
              </a:spcAft>
              <a:buClr>
                <a:schemeClr val="dk1"/>
              </a:buClr>
              <a:buSzPts val="1500"/>
              <a:buFont typeface="Arial"/>
              <a:buAutoNum type="arabicParenBoth"/>
            </a:pPr>
            <a:r>
              <a:rPr lang="en-US" sz="1500">
                <a:solidFill>
                  <a:schemeClr val="dk1"/>
                </a:solidFill>
                <a:latin typeface="Arial"/>
                <a:ea typeface="Arial"/>
                <a:cs typeface="Arial"/>
                <a:sym typeface="Arial"/>
              </a:rPr>
              <a:t>Route ends in depot n+1</a:t>
            </a:r>
            <a:endParaRPr sz="1100"/>
          </a:p>
          <a:p>
            <a:pPr indent="-323850" lvl="0" marL="342900" marR="0" rtl="0" algn="l">
              <a:spcBef>
                <a:spcPts val="0"/>
              </a:spcBef>
              <a:spcAft>
                <a:spcPts val="0"/>
              </a:spcAft>
              <a:buClr>
                <a:schemeClr val="dk1"/>
              </a:buClr>
              <a:buSzPts val="1500"/>
              <a:buFont typeface="Arial"/>
              <a:buAutoNum type="arabicParenBoth"/>
            </a:pPr>
            <a:r>
              <a:rPr lang="en-US" sz="1500">
                <a:solidFill>
                  <a:schemeClr val="dk1"/>
                </a:solidFill>
                <a:latin typeface="Arial"/>
                <a:ea typeface="Arial"/>
                <a:cs typeface="Arial"/>
                <a:sym typeface="Arial"/>
              </a:rPr>
              <a:t>Route starts in depot 0</a:t>
            </a:r>
            <a:endParaRPr sz="1100"/>
          </a:p>
          <a:p>
            <a:pPr indent="-323850" lvl="0" marL="342900" marR="0" rtl="0" algn="l">
              <a:spcBef>
                <a:spcPts val="0"/>
              </a:spcBef>
              <a:spcAft>
                <a:spcPts val="0"/>
              </a:spcAft>
              <a:buClr>
                <a:schemeClr val="dk1"/>
              </a:buClr>
              <a:buSzPts val="1500"/>
              <a:buFont typeface="Arial"/>
              <a:buAutoNum type="arabicParenBoth"/>
            </a:pPr>
            <a:r>
              <a:rPr lang="en-US" sz="1500">
                <a:solidFill>
                  <a:schemeClr val="dk1"/>
                </a:solidFill>
                <a:latin typeface="Arial"/>
                <a:ea typeface="Arial"/>
                <a:cs typeface="Arial"/>
                <a:sym typeface="Arial"/>
              </a:rPr>
              <a:t>The truck enter in </a:t>
            </a:r>
            <a:r>
              <a:rPr i="1" lang="en-US" sz="1500">
                <a:solidFill>
                  <a:schemeClr val="dk1"/>
                </a:solidFill>
                <a:latin typeface="Arial"/>
                <a:ea typeface="Arial"/>
                <a:cs typeface="Arial"/>
                <a:sym typeface="Arial"/>
              </a:rPr>
              <a:t>i </a:t>
            </a:r>
            <a:r>
              <a:rPr lang="en-US" sz="1500">
                <a:solidFill>
                  <a:schemeClr val="dk1"/>
                </a:solidFill>
                <a:latin typeface="Arial"/>
                <a:ea typeface="Arial"/>
                <a:cs typeface="Arial"/>
                <a:sym typeface="Arial"/>
              </a:rPr>
              <a:t>Location and departure</a:t>
            </a:r>
            <a:r>
              <a:rPr i="1" lang="en-US" sz="1500">
                <a:solidFill>
                  <a:schemeClr val="dk1"/>
                </a:solidFill>
                <a:latin typeface="Arial"/>
                <a:ea typeface="Arial"/>
                <a:cs typeface="Arial"/>
                <a:sym typeface="Arial"/>
              </a:rPr>
              <a:t> i </a:t>
            </a:r>
            <a:r>
              <a:rPr lang="en-US" sz="1500">
                <a:solidFill>
                  <a:schemeClr val="dk1"/>
                </a:solidFill>
                <a:latin typeface="Arial"/>
                <a:ea typeface="Arial"/>
                <a:cs typeface="Arial"/>
                <a:sym typeface="Arial"/>
              </a:rPr>
              <a:t>location</a:t>
            </a:r>
            <a:endParaRPr sz="1100"/>
          </a:p>
          <a:p>
            <a:pPr indent="-323850" lvl="0" marL="342900" marR="0" rtl="0" algn="l">
              <a:spcBef>
                <a:spcPts val="0"/>
              </a:spcBef>
              <a:spcAft>
                <a:spcPts val="0"/>
              </a:spcAft>
              <a:buClr>
                <a:schemeClr val="dk1"/>
              </a:buClr>
              <a:buSzPts val="1500"/>
              <a:buFont typeface="Arial"/>
              <a:buAutoNum type="arabicParenBoth"/>
            </a:pPr>
            <a:r>
              <a:rPr lang="en-US" sz="1500">
                <a:solidFill>
                  <a:schemeClr val="dk1"/>
                </a:solidFill>
                <a:latin typeface="Arial"/>
                <a:ea typeface="Arial"/>
                <a:cs typeface="Arial"/>
                <a:sym typeface="Arial"/>
              </a:rPr>
              <a:t>All variables needs to be positive</a:t>
            </a:r>
            <a:endParaRPr sz="1100"/>
          </a:p>
        </p:txBody>
      </p:sp>
      <p:sp>
        <p:nvSpPr>
          <p:cNvPr id="208" name="Google Shape;208;g2c0cb89dab2_1_0"/>
          <p:cNvSpPr txBox="1"/>
          <p:nvPr>
            <p:ph idx="4294967295" type="title"/>
          </p:nvPr>
        </p:nvSpPr>
        <p:spPr>
          <a:xfrm>
            <a:off x="616400" y="0"/>
            <a:ext cx="8850900" cy="985200"/>
          </a:xfrm>
          <a:prstGeom prst="rect">
            <a:avLst/>
          </a:prstGeom>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4400"/>
              <a:buFont typeface="Calibri"/>
              <a:buNone/>
            </a:pPr>
            <a:r>
              <a:rPr b="1" lang="en-US">
                <a:solidFill>
                  <a:srgbClr val="002060"/>
                </a:solidFill>
              </a:rPr>
              <a:t>Algorithm</a:t>
            </a:r>
            <a:r>
              <a:rPr b="1" lang="en-US">
                <a:solidFill>
                  <a:srgbClr val="002060"/>
                </a:solidFill>
              </a:rPr>
              <a:t> </a:t>
            </a:r>
            <a:endParaRPr b="1">
              <a:solidFill>
                <a:srgbClr val="00206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2c0cb89dab2_1_82"/>
          <p:cNvSpPr txBox="1"/>
          <p:nvPr/>
        </p:nvSpPr>
        <p:spPr>
          <a:xfrm>
            <a:off x="2192055" y="839244"/>
            <a:ext cx="57744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Shortest</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214" name="Google Shape;214;g2c0cb89dab2_1_82"/>
          <p:cNvGraphicFramePr/>
          <p:nvPr/>
        </p:nvGraphicFramePr>
        <p:xfrm>
          <a:off x="1101263" y="1305609"/>
          <a:ext cx="3000000" cy="3000000"/>
        </p:xfrm>
        <a:graphic>
          <a:graphicData uri="http://schemas.openxmlformats.org/drawingml/2006/table">
            <a:tbl>
              <a:tblPr>
                <a:noFill/>
                <a:tableStyleId>{B3E626AE-A641-430D-AF40-8EAA452E8689}</a:tableStyleId>
              </a:tblPr>
              <a:tblGrid>
                <a:gridCol w="721750"/>
                <a:gridCol w="1527275"/>
                <a:gridCol w="1387350"/>
                <a:gridCol w="948175"/>
                <a:gridCol w="918250"/>
                <a:gridCol w="1171100"/>
                <a:gridCol w="1067950"/>
                <a:gridCol w="1171100"/>
                <a:gridCol w="412550"/>
                <a:gridCol w="988100"/>
              </a:tblGrid>
              <a:tr h="305025">
                <a:tc>
                  <a:txBody>
                    <a:bodyPr/>
                    <a:lstStyle/>
                    <a:p>
                      <a:pPr indent="0" lvl="0" marL="0" marR="0" rtl="0" algn="l">
                        <a:spcBef>
                          <a:spcPts val="0"/>
                        </a:spcBef>
                        <a:spcAft>
                          <a:spcPts val="0"/>
                        </a:spcAft>
                        <a:buNone/>
                      </a:pPr>
                      <a:r>
                        <a:rPr b="1" i="0" lang="en-US" sz="1300" u="none" cap="none" strike="noStrike">
                          <a:solidFill>
                            <a:srgbClr val="000000"/>
                          </a:solidFill>
                          <a:latin typeface="Calibri"/>
                          <a:ea typeface="Calibri"/>
                          <a:cs typeface="Calibri"/>
                          <a:sym typeface="Calibri"/>
                        </a:rPr>
                        <a:t>Total Cost</a:t>
                      </a:r>
                      <a:endParaRPr sz="1600"/>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300" u="none" cap="none" strike="noStrike">
                          <a:solidFill>
                            <a:srgbClr val="000000"/>
                          </a:solidFill>
                          <a:latin typeface="Calibri"/>
                          <a:ea typeface="Calibri"/>
                          <a:cs typeface="Calibri"/>
                          <a:sym typeface="Calibri"/>
                        </a:rPr>
                        <a:t>1004.98</a:t>
                      </a:r>
                      <a:endParaRPr sz="1600"/>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99"/>
                    </a:solidFill>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gridSpan="2">
                  <a:txBody>
                    <a:bodyPr/>
                    <a:lstStyle/>
                    <a:p>
                      <a:pPr indent="0" lvl="0" marL="0" marR="0" rtl="0" algn="l">
                        <a:spcBef>
                          <a:spcPts val="0"/>
                        </a:spcBef>
                        <a:spcAft>
                          <a:spcPts val="0"/>
                        </a:spcAft>
                        <a:buNone/>
                      </a:pPr>
                      <a:r>
                        <a:rPr b="1" i="0" lang="en-US" sz="1300" u="none" cap="none" strike="noStrike">
                          <a:solidFill>
                            <a:srgbClr val="000000"/>
                          </a:solidFill>
                          <a:latin typeface="Calibri"/>
                          <a:ea typeface="Calibri"/>
                          <a:cs typeface="Calibri"/>
                          <a:sym typeface="Calibri"/>
                        </a:rPr>
                        <a:t>Optimal solution</a:t>
                      </a:r>
                      <a:endParaRPr sz="1600"/>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r">
                        <a:spcBef>
                          <a:spcPts val="0"/>
                        </a:spcBef>
                        <a:spcAft>
                          <a:spcPts val="0"/>
                        </a:spcAft>
                        <a:buNone/>
                      </a:pPr>
                      <a:r>
                        <a:rPr b="1" i="0" lang="en-US" sz="1300" u="none" cap="none" strike="noStrike">
                          <a:solidFill>
                            <a:srgbClr val="000000"/>
                          </a:solidFill>
                          <a:latin typeface="Calibri"/>
                          <a:ea typeface="Calibri"/>
                          <a:cs typeface="Calibri"/>
                          <a:sym typeface="Calibri"/>
                        </a:rPr>
                        <a:t>1004.975</a:t>
                      </a:r>
                      <a:endParaRPr sz="1600"/>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9350">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3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9350">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Vehicle: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V1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Stops:</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100" u="none" cap="none" strike="noStrike">
                          <a:solidFill>
                            <a:srgbClr val="000000"/>
                          </a:solidFill>
                          <a:latin typeface="Calibri"/>
                          <a:ea typeface="Calibri"/>
                          <a:cs typeface="Calibri"/>
                          <a:sym typeface="Calibri"/>
                        </a:rPr>
                        <a:t>6</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99"/>
                    </a:solidFill>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Cost</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spcBef>
                          <a:spcPts val="0"/>
                        </a:spcBef>
                        <a:spcAft>
                          <a:spcPts val="0"/>
                        </a:spcAft>
                        <a:buNone/>
                      </a:pPr>
                      <a:r>
                        <a:rPr b="1" i="0" lang="en-US" sz="1100" u="none" cap="none" strike="noStrike">
                          <a:solidFill>
                            <a:srgbClr val="000000"/>
                          </a:solidFill>
                          <a:latin typeface="Calibri"/>
                          <a:ea typeface="Calibri"/>
                          <a:cs typeface="Calibri"/>
                          <a:sym typeface="Calibri"/>
                        </a:rPr>
                        <a:t>1004.98</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99"/>
                    </a:solidFill>
                  </a:tcPr>
                </a:tc>
                <a:tc>
                  <a:txBody>
                    <a:bodyPr/>
                    <a:lstStyle/>
                    <a:p>
                      <a:pPr indent="0" lvl="0" marL="0" marR="0" rtl="0" algn="l">
                        <a:spcBef>
                          <a:spcPts val="0"/>
                        </a:spcBef>
                        <a:spcAft>
                          <a:spcPts val="0"/>
                        </a:spcAft>
                        <a:buNone/>
                      </a:pPr>
                      <a:r>
                        <a:t/>
                      </a:r>
                      <a:endParaRPr b="1"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1"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9350">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Stop count</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Location Name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Distance travelled</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Driving time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Arrival time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Departure time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Working time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Profit collected</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Load</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Unloding Time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9350">
                <a:tc>
                  <a:txBody>
                    <a:bodyPr/>
                    <a:lstStyle/>
                    <a:p>
                      <a:pPr indent="0" lvl="0" marL="0" marR="0" rtl="0" algn="r">
                        <a:spcBef>
                          <a:spcPts val="0"/>
                        </a:spcBef>
                        <a:spcAft>
                          <a:spcPts val="0"/>
                        </a:spcAft>
                        <a:buNone/>
                      </a:pPr>
                      <a:r>
                        <a:rPr b="0" i="0" lang="en-US" sz="1100" u="none" cap="none" strike="noStrike">
                          <a:solidFill>
                            <a:srgbClr val="FFFFFF"/>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100" u="none" cap="none" strike="noStrike">
                          <a:solidFill>
                            <a:srgbClr val="FFFFFF"/>
                          </a:solidFill>
                          <a:latin typeface="Calibri"/>
                          <a:ea typeface="Calibri"/>
                          <a:cs typeface="Calibri"/>
                          <a:sym typeface="Calibri"/>
                        </a:rPr>
                        <a:t>Depot- Manteca</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000000"/>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0.00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0:00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 </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00:00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0:00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270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 </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r>
              <a:tr h="209350">
                <a:tc>
                  <a:txBody>
                    <a:bodyPr/>
                    <a:lstStyle/>
                    <a:p>
                      <a:pPr indent="0" lvl="0" marL="0" marR="0" rtl="0" algn="r">
                        <a:spcBef>
                          <a:spcPts val="0"/>
                        </a:spcBef>
                        <a:spcAft>
                          <a:spcPts val="0"/>
                        </a:spcAft>
                        <a:buNone/>
                      </a:pPr>
                      <a:r>
                        <a:rPr b="0" i="0" lang="en-US" sz="1100" u="none" cap="none" strike="noStrike">
                          <a:solidFill>
                            <a:srgbClr val="FFFFFF"/>
                          </a:solidFill>
                          <a:latin typeface="Calibri"/>
                          <a:ea typeface="Calibri"/>
                          <a:cs typeface="Calibri"/>
                          <a:sym typeface="Calibri"/>
                        </a:rPr>
                        <a:t>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Redwood City 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C7F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74.00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1:21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01:21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01:51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1:51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200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30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r>
              <a:tr h="209350">
                <a:tc>
                  <a:txBody>
                    <a:bodyPr/>
                    <a:lstStyle/>
                    <a:p>
                      <a:pPr indent="0" lvl="0" marL="0" marR="0" rtl="0" algn="r">
                        <a:spcBef>
                          <a:spcPts val="0"/>
                        </a:spcBef>
                        <a:spcAft>
                          <a:spcPts val="0"/>
                        </a:spcAft>
                        <a:buNone/>
                      </a:pPr>
                      <a:r>
                        <a:rPr b="0" i="0" lang="en-US" sz="1100" u="none" cap="none" strike="noStrike">
                          <a:solidFill>
                            <a:srgbClr val="FFFFFF"/>
                          </a:solidFill>
                          <a:latin typeface="Calibri"/>
                          <a:ea typeface="Calibri"/>
                          <a:cs typeface="Calibri"/>
                          <a:sym typeface="Calibri"/>
                        </a:rPr>
                        <a:t>2</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Redwood City 2</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4CDFF"/>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75.70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1:26</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01:56</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02:41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2:41</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145</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45</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r>
              <a:tr h="209350">
                <a:tc>
                  <a:txBody>
                    <a:bodyPr/>
                    <a:lstStyle/>
                    <a:p>
                      <a:pPr indent="0" lvl="0" marL="0" marR="0" rtl="0" algn="r">
                        <a:spcBef>
                          <a:spcPts val="0"/>
                        </a:spcBef>
                        <a:spcAft>
                          <a:spcPts val="0"/>
                        </a:spcAft>
                        <a:buNone/>
                      </a:pPr>
                      <a:r>
                        <a:rPr b="0" i="0" lang="en-US" sz="1100" u="none" cap="none" strike="noStrike">
                          <a:solidFill>
                            <a:srgbClr val="FFFFFF"/>
                          </a:solidFill>
                          <a:latin typeface="Calibri"/>
                          <a:ea typeface="Calibri"/>
                          <a:cs typeface="Calibri"/>
                          <a:sym typeface="Calibri"/>
                        </a:rPr>
                        <a:t>3</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Menlo Park</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C7F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80.20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1:37</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02:52</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03:42</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3:42</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115</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50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r>
              <a:tr h="209350">
                <a:tc>
                  <a:txBody>
                    <a:bodyPr/>
                    <a:lstStyle/>
                    <a:p>
                      <a:pPr indent="0" lvl="0" marL="0" marR="0" rtl="0" algn="r">
                        <a:spcBef>
                          <a:spcPts val="0"/>
                        </a:spcBef>
                        <a:spcAft>
                          <a:spcPts val="0"/>
                        </a:spcAft>
                        <a:buNone/>
                      </a:pPr>
                      <a:r>
                        <a:rPr b="0" i="0" lang="en-US" sz="1100" u="none" cap="none" strike="noStrike">
                          <a:solidFill>
                            <a:srgbClr val="FFFFFF"/>
                          </a:solidFill>
                          <a:latin typeface="Calibri"/>
                          <a:ea typeface="Calibri"/>
                          <a:cs typeface="Calibri"/>
                          <a:sym typeface="Calibri"/>
                        </a:rPr>
                        <a:t>4</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Palo Alto</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4CDFF"/>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84.20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1:48</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03:53</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04:33</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4:33</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55</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40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r>
              <a:tr h="209350">
                <a:tc>
                  <a:txBody>
                    <a:bodyPr/>
                    <a:lstStyle/>
                    <a:p>
                      <a:pPr indent="0" lvl="0" marL="0" marR="0" rtl="0" algn="r">
                        <a:spcBef>
                          <a:spcPts val="0"/>
                        </a:spcBef>
                        <a:spcAft>
                          <a:spcPts val="0"/>
                        </a:spcAft>
                        <a:buNone/>
                      </a:pPr>
                      <a:r>
                        <a:rPr b="0" i="0" lang="en-US" sz="1100" u="none" cap="none" strike="noStrike">
                          <a:solidFill>
                            <a:srgbClr val="FFFFFF"/>
                          </a:solidFill>
                          <a:latin typeface="Calibri"/>
                          <a:ea typeface="Calibri"/>
                          <a:cs typeface="Calibri"/>
                          <a:sym typeface="Calibri"/>
                        </a:rPr>
                        <a:t>5</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East Palo Alto</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C7F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87.30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1:57</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04:42</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05:17</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5:17</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35</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r>
              <a:tr h="209350">
                <a:tc>
                  <a:txBody>
                    <a:bodyPr/>
                    <a:lstStyle/>
                    <a:p>
                      <a:pPr indent="0" lvl="0" marL="0" marR="0" rtl="0" algn="r">
                        <a:spcBef>
                          <a:spcPts val="0"/>
                        </a:spcBef>
                        <a:spcAft>
                          <a:spcPts val="0"/>
                        </a:spcAft>
                        <a:buNone/>
                      </a:pPr>
                      <a:r>
                        <a:rPr b="0" i="0" lang="en-US" sz="1100" u="none" cap="none" strike="noStrike">
                          <a:solidFill>
                            <a:srgbClr val="FFFFFF"/>
                          </a:solidFill>
                          <a:latin typeface="Calibri"/>
                          <a:ea typeface="Calibri"/>
                          <a:cs typeface="Calibri"/>
                          <a:sym typeface="Calibri"/>
                        </a:rPr>
                        <a:t>6</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Depot- Manteca</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04CDFF"/>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157.30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3:13</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06:33</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0000"/>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 </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6:33</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r">
                        <a:spcBef>
                          <a:spcPts val="0"/>
                        </a:spcBef>
                        <a:spcAft>
                          <a:spcPts val="0"/>
                        </a:spcAft>
                        <a:buNone/>
                      </a:pPr>
                      <a:r>
                        <a:rPr b="0" i="0" lang="en-US" sz="1100" u="none" cap="none" strike="noStrike">
                          <a:solidFill>
                            <a:srgbClr val="000000"/>
                          </a:solidFill>
                          <a:latin typeface="Calibri"/>
                          <a:ea typeface="Calibri"/>
                          <a:cs typeface="Calibri"/>
                          <a:sym typeface="Calibri"/>
                        </a:rPr>
                        <a:t>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Calibri"/>
                          <a:ea typeface="Calibri"/>
                          <a:cs typeface="Calibri"/>
                          <a:sym typeface="Calibri"/>
                        </a:rPr>
                        <a:t> </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808080"/>
                      </a:solidFill>
                      <a:prstDash val="solid"/>
                      <a:round/>
                      <a:headEnd len="sm" w="sm" type="none"/>
                      <a:tailEnd len="sm" w="sm" type="none"/>
                    </a:lnB>
                    <a:solidFill>
                      <a:srgbClr val="FFFF99"/>
                    </a:solidFill>
                  </a:tcPr>
                </a:tc>
              </a:tr>
              <a:tr h="209350">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80808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9350">
                <a:tc gridSpan="2">
                  <a:txBody>
                    <a:bodyPr/>
                    <a:lstStyle/>
                    <a:p>
                      <a:pPr indent="0" lvl="0" marL="0" marR="0" rtl="0" algn="l">
                        <a:spcBef>
                          <a:spcPts val="0"/>
                        </a:spcBef>
                        <a:spcAft>
                          <a:spcPts val="0"/>
                        </a:spcAft>
                        <a:buNone/>
                      </a:pPr>
                      <a:r>
                        <a:rPr b="1" i="0" lang="en-US" sz="1100" u="none" cap="none" strike="noStrike">
                          <a:solidFill>
                            <a:srgbClr val="000000"/>
                          </a:solidFill>
                          <a:latin typeface="Calibri"/>
                          <a:ea typeface="Calibri"/>
                          <a:cs typeface="Calibri"/>
                          <a:sym typeface="Calibri"/>
                        </a:rPr>
                        <a:t>Detected reasons of infeasibility</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b="0" i="0" sz="11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2c0c8e8e194_0_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2060"/>
              </a:buClr>
              <a:buSzPts val="4400"/>
              <a:buFont typeface="Calibri"/>
              <a:buNone/>
            </a:pPr>
            <a:r>
              <a:rPr b="1" lang="en-US">
                <a:solidFill>
                  <a:srgbClr val="002060"/>
                </a:solidFill>
              </a:rPr>
              <a:t>Tableau: Navigation Mapping</a:t>
            </a:r>
            <a:endParaRPr/>
          </a:p>
        </p:txBody>
      </p:sp>
      <p:pic>
        <p:nvPicPr>
          <p:cNvPr id="220" name="Google Shape;220;g2c0c8e8e194_0_20"/>
          <p:cNvPicPr preferRelativeResize="0"/>
          <p:nvPr/>
        </p:nvPicPr>
        <p:blipFill>
          <a:blip r:embed="rId3">
            <a:alphaModFix/>
          </a:blip>
          <a:stretch>
            <a:fillRect/>
          </a:stretch>
        </p:blipFill>
        <p:spPr>
          <a:xfrm>
            <a:off x="1814350" y="1360400"/>
            <a:ext cx="7903977" cy="5321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4400"/>
              <a:buFont typeface="Calibri"/>
              <a:buNone/>
            </a:pPr>
            <a:r>
              <a:rPr b="1" lang="en-US">
                <a:solidFill>
                  <a:srgbClr val="002060"/>
                </a:solidFill>
              </a:rPr>
              <a:t>Outcome</a:t>
            </a:r>
            <a:endParaRPr b="1" sz="8800">
              <a:solidFill>
                <a:srgbClr val="002060"/>
              </a:solidFill>
            </a:endParaRPr>
          </a:p>
        </p:txBody>
      </p:sp>
      <p:sp>
        <p:nvSpPr>
          <p:cNvPr id="226" name="Google Shape;226;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92100" lvl="0" marL="228600" rtl="0" algn="l">
              <a:lnSpc>
                <a:spcPct val="100000"/>
              </a:lnSpc>
              <a:spcBef>
                <a:spcPts val="0"/>
              </a:spcBef>
              <a:spcAft>
                <a:spcPts val="0"/>
              </a:spcAft>
              <a:buSzPts val="2800"/>
              <a:buFont typeface="Calibri"/>
              <a:buChar char="•"/>
            </a:pPr>
            <a:r>
              <a:rPr lang="en-US" sz="2000">
                <a:solidFill>
                  <a:srgbClr val="0D0D0D"/>
                </a:solidFill>
              </a:rPr>
              <a:t>Optimized cost of</a:t>
            </a:r>
            <a:r>
              <a:rPr lang="en-US" sz="2000">
                <a:solidFill>
                  <a:srgbClr val="0D0D0D"/>
                </a:solidFill>
              </a:rPr>
              <a:t> delivery routes to five suburban outlets.</a:t>
            </a:r>
            <a:endParaRPr sz="2000">
              <a:solidFill>
                <a:srgbClr val="0D0D0D"/>
              </a:solidFill>
            </a:endParaRPr>
          </a:p>
          <a:p>
            <a:pPr indent="0" lvl="0" marL="0" rtl="0" algn="l">
              <a:lnSpc>
                <a:spcPct val="100000"/>
              </a:lnSpc>
              <a:spcBef>
                <a:spcPts val="0"/>
              </a:spcBef>
              <a:spcAft>
                <a:spcPts val="0"/>
              </a:spcAft>
              <a:buNone/>
            </a:pPr>
            <a:r>
              <a:t/>
            </a:r>
            <a:endParaRPr sz="1700">
              <a:solidFill>
                <a:srgbClr val="0D0D0D"/>
              </a:solidFill>
            </a:endParaRPr>
          </a:p>
          <a:p>
            <a:pPr indent="-273050" lvl="0" marL="228600" rtl="0" algn="l">
              <a:lnSpc>
                <a:spcPct val="100000"/>
              </a:lnSpc>
              <a:spcBef>
                <a:spcPts val="0"/>
              </a:spcBef>
              <a:spcAft>
                <a:spcPts val="0"/>
              </a:spcAft>
              <a:buClr>
                <a:srgbClr val="0D0D0D"/>
              </a:buClr>
              <a:buSzPts val="2500"/>
              <a:buFont typeface="Calibri"/>
              <a:buChar char="•"/>
            </a:pPr>
            <a:r>
              <a:rPr lang="en-US" sz="2000">
                <a:solidFill>
                  <a:srgbClr val="0D0D0D"/>
                </a:solidFill>
              </a:rPr>
              <a:t>Addressed multiple logistical constraints, ensuring efficient service and adherence to delivery schedules.</a:t>
            </a:r>
            <a:br>
              <a:rPr lang="en-US" sz="2000">
                <a:solidFill>
                  <a:srgbClr val="0D0D0D"/>
                </a:solidFill>
              </a:rPr>
            </a:br>
            <a:endParaRPr sz="2000">
              <a:solidFill>
                <a:srgbClr val="0D0D0D"/>
              </a:solidFill>
            </a:endParaRPr>
          </a:p>
          <a:p>
            <a:pPr indent="-298450" lvl="0" marL="228600" rtl="0" algn="l">
              <a:lnSpc>
                <a:spcPct val="100000"/>
              </a:lnSpc>
              <a:spcBef>
                <a:spcPts val="0"/>
              </a:spcBef>
              <a:spcAft>
                <a:spcPts val="0"/>
              </a:spcAft>
              <a:buClr>
                <a:srgbClr val="0D0D0D"/>
              </a:buClr>
              <a:buSzPts val="2900"/>
              <a:buFont typeface="Calibri"/>
              <a:buChar char="•"/>
            </a:pPr>
            <a:r>
              <a:rPr lang="en-US" sz="2000">
                <a:solidFill>
                  <a:srgbClr val="0D0D0D"/>
                </a:solidFill>
              </a:rPr>
              <a:t>Demonstrated the solver's scalability and adaptability for potential broader geographic applications.</a:t>
            </a:r>
            <a:endParaRPr sz="2000">
              <a:solidFill>
                <a:srgbClr val="0D0D0D"/>
              </a:solidFill>
            </a:endParaRPr>
          </a:p>
          <a:p>
            <a:pPr indent="0" lvl="0" marL="228600" rtl="0" algn="l">
              <a:lnSpc>
                <a:spcPct val="100000"/>
              </a:lnSpc>
              <a:spcBef>
                <a:spcPts val="0"/>
              </a:spcBef>
              <a:spcAft>
                <a:spcPts val="0"/>
              </a:spcAft>
              <a:buNone/>
            </a:pPr>
            <a:r>
              <a:t/>
            </a:r>
            <a:endParaRPr sz="2000">
              <a:solidFill>
                <a:srgbClr val="0D0D0D"/>
              </a:solidFill>
            </a:endParaRPr>
          </a:p>
          <a:p>
            <a:pPr indent="-317500" lvl="0" marL="228600" rtl="0" algn="l">
              <a:lnSpc>
                <a:spcPct val="100000"/>
              </a:lnSpc>
              <a:spcBef>
                <a:spcPts val="0"/>
              </a:spcBef>
              <a:spcAft>
                <a:spcPts val="0"/>
              </a:spcAft>
              <a:buClr>
                <a:srgbClr val="0D0D0D"/>
              </a:buClr>
              <a:buSzPts val="3200"/>
              <a:buFont typeface="Calibri"/>
              <a:buChar char="•"/>
            </a:pPr>
            <a:r>
              <a:rPr lang="en-US" sz="1900">
                <a:solidFill>
                  <a:srgbClr val="0D0D0D"/>
                </a:solidFill>
                <a:highlight>
                  <a:srgbClr val="FFFFFF"/>
                </a:highlight>
              </a:rPr>
              <a:t>Additionally, expanding this solution from Redwood City stores to encompass the entire Bay Area is intended to demonstrate the potential for implementing scalable solutions that yield substantial savings for businesses such as Baskin Robbins.</a:t>
            </a:r>
            <a:endParaRPr sz="2300">
              <a:solidFill>
                <a:srgbClr val="0D0D0D"/>
              </a:solidFill>
            </a:endParaRPr>
          </a:p>
          <a:p>
            <a:pPr indent="0" lvl="0" marL="228600" rtl="0" algn="l">
              <a:lnSpc>
                <a:spcPct val="100000"/>
              </a:lnSpc>
              <a:spcBef>
                <a:spcPts val="0"/>
              </a:spcBef>
              <a:spcAft>
                <a:spcPts val="0"/>
              </a:spcAft>
              <a:buNone/>
            </a:pPr>
            <a:r>
              <a:t/>
            </a:r>
            <a:endParaRPr sz="1900">
              <a:solidFill>
                <a:srgbClr val="0D0D0D"/>
              </a:solidFill>
              <a:latin typeface="Roboto"/>
              <a:ea typeface="Roboto"/>
              <a:cs typeface="Roboto"/>
              <a:sym typeface="Roboto"/>
            </a:endParaRPr>
          </a:p>
          <a:p>
            <a:pPr indent="0" lvl="0" marL="228600" rtl="0" algn="just">
              <a:lnSpc>
                <a:spcPct val="100000"/>
              </a:lnSpc>
              <a:spcBef>
                <a:spcPts val="10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2c0c8e8e194_0_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a:solidFill>
                  <a:srgbClr val="002060"/>
                </a:solidFill>
              </a:rPr>
              <a:t>Next</a:t>
            </a:r>
            <a:r>
              <a:rPr b="1" lang="en-US">
                <a:solidFill>
                  <a:srgbClr val="002060"/>
                </a:solidFill>
              </a:rPr>
              <a:t> Steps	</a:t>
            </a:r>
            <a:endParaRPr b="1">
              <a:solidFill>
                <a:srgbClr val="002060"/>
              </a:solidFill>
            </a:endParaRPr>
          </a:p>
        </p:txBody>
      </p:sp>
      <p:sp>
        <p:nvSpPr>
          <p:cNvPr id="232" name="Google Shape;232;g2c0c8e8e194_0_2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Improvise tableau</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Documentation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2c0c8e8e194_0_31"/>
          <p:cNvSpPr txBox="1"/>
          <p:nvPr/>
        </p:nvSpPr>
        <p:spPr>
          <a:xfrm>
            <a:off x="1937275" y="2565300"/>
            <a:ext cx="9169800" cy="17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7200">
                <a:solidFill>
                  <a:srgbClr val="002060"/>
                </a:solidFill>
                <a:latin typeface="Georgia"/>
                <a:ea typeface="Georgia"/>
                <a:cs typeface="Georgia"/>
                <a:sym typeface="Georgia"/>
              </a:rPr>
              <a:t>Thank you!</a:t>
            </a:r>
            <a:endParaRPr i="1" sz="7200">
              <a:solidFill>
                <a:srgbClr val="002060"/>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2024-02-08T06:20:07Z</dcterms:created>
  <dc:creator>Vishal Pandya</dc:creator>
</cp:coreProperties>
</file>